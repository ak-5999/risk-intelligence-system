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BFB"/>
    <a:srgbClr val="854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71634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40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667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446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investors.fiscalnote.com/news/news-details/2026/FiscalNote-Reports-Fourth-Quarter-and-Full-Year-2025-Financial-Results/default.aspx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alpha-sense.com/press/alphasense-raises-350m-at-7-5b-valuation-and-surpasses-600m-in-annual-recurring-revenue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9" Type="http://schemas.openxmlformats.org/officeDocument/2006/relationships/image" Target="../media/image57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42" Type="http://schemas.openxmlformats.org/officeDocument/2006/relationships/image" Target="../media/image60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45" Type="http://schemas.openxmlformats.org/officeDocument/2006/relationships/image" Target="../media/image1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9.png"/><Relationship Id="rId44" Type="http://schemas.openxmlformats.org/officeDocument/2006/relationships/image" Target="../media/image62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43" Type="http://schemas.openxmlformats.org/officeDocument/2006/relationships/image" Target="../media/image61.png"/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Relationship Id="rId20" Type="http://schemas.openxmlformats.org/officeDocument/2006/relationships/image" Target="../media/image38.png"/><Relationship Id="rId41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FC1AE3-50D4-34FB-FA91-15D1CAC04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85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41248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i="1" dirty="0">
                <a:solidFill>
                  <a:schemeClr val="bg2">
                    <a:lumMod val="50000"/>
                  </a:schemeClr>
                </a:solidFill>
              </a:rPr>
              <a:t>Understanding disclosed risks helps analysts identify exposures, emerging risks and changes over time — but doing this across 200+ annual reports every quarter is difficult to scale.</a:t>
            </a:r>
            <a:endParaRPr lang="en-US" sz="1500" b="1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—  MANUAL REVIEW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57400" y="1691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6" name="Image 0" descr="file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80360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88036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PDFs reviewed per quarter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2048256"/>
            <a:ext cx="45720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91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1" name="Image 1" descr="users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8745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71500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reads &amp; interprets disclosures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269480" y="2048256"/>
            <a:ext cx="45720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6680" y="16916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549640" y="18196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Findings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49640" y="2167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Identified and interpreted by analyst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39496" y="2770632"/>
            <a:ext cx="3589020" cy="338328"/>
          </a:xfrm>
          <a:prstGeom prst="roundRect">
            <a:avLst>
              <a:gd name="adj" fmla="val 14286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5"/>
          <p:cNvSpPr/>
          <p:nvPr/>
        </p:nvSpPr>
        <p:spPr>
          <a:xfrm>
            <a:off x="854964" y="27249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long manual read of every report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06240" y="2770632"/>
            <a:ext cx="3589020" cy="338328"/>
          </a:xfrm>
          <a:prstGeom prst="roundRect">
            <a:avLst>
              <a:gd name="adj" fmla="val 14286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70248" y="2752344"/>
            <a:ext cx="3461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repeated across 200+ reports in a quarter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872984" y="2770632"/>
            <a:ext cx="3589020" cy="338328"/>
          </a:xfrm>
          <a:prstGeom prst="roundRect">
            <a:avLst>
              <a:gd name="adj" fmla="val 14286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88452" y="27249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analysts surface different risks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320040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automate this transformation — without losing quality or traceability?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" name="Text 21"/>
          <p:cNvSpPr/>
          <p:nvPr/>
        </p:nvSpPr>
        <p:spPr>
          <a:xfrm>
            <a:off x="457200" y="3584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—  AI-ASSISTED PIPELINE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2057400" y="3913632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28" name="Image 3" descr="fi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92" y="4096512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88036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2880360" y="4389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unstructured input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434840" y="4270248"/>
            <a:ext cx="45720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892040" y="3913632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33" name="Image 4" descr="cpu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4096512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71500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Pipeline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715000" y="4389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&amp; structures principal risks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269480" y="4270248"/>
            <a:ext cx="457200" cy="201168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726680" y="3913632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38" name="Image 5" descr="databas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72" y="4096512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49640" y="4041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Traceable Data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549640" y="43891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JSON / database record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0" y="4972280"/>
            <a:ext cx="12188952" cy="1885719"/>
          </a:xfrm>
          <a:prstGeom prst="rect">
            <a:avLst/>
          </a:prstGeom>
          <a:solidFill>
            <a:srgbClr val="EAF1FD"/>
          </a:solidFill>
          <a:ln w="12700">
            <a:solidFill>
              <a:srgbClr val="EAF1F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34"/>
          <p:cNvSpPr/>
          <p:nvPr/>
        </p:nvSpPr>
        <p:spPr>
          <a:xfrm>
            <a:off x="457200" y="5044499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STRUCTURED DATA UNLOCKS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1559052" y="527963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4" name="Image 6" descr="search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924" y="5398508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39496" y="59014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539496" y="61574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companies flag cybersecurity as a principal risk?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4393692" y="527963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8" name="Image 7" descr="columns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2564" y="5398508"/>
            <a:ext cx="329184" cy="32918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3374136" y="59014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3374136" y="61574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 company’s risks compare across a portfolio?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7228332" y="527963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2" name="Image 8" descr="eye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7204" y="5398508"/>
            <a:ext cx="329184" cy="32918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208776" y="59014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54" name="Text 43"/>
          <p:cNvSpPr/>
          <p:nvPr/>
        </p:nvSpPr>
        <p:spPr>
          <a:xfrm>
            <a:off x="6208776" y="61574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emerging risks were recently elevated?</a:t>
            </a:r>
            <a:endParaRPr lang="en-US" sz="1300" dirty="0"/>
          </a:p>
        </p:txBody>
      </p:sp>
      <p:sp>
        <p:nvSpPr>
          <p:cNvPr id="55" name="Shape 44"/>
          <p:cNvSpPr/>
          <p:nvPr/>
        </p:nvSpPr>
        <p:spPr>
          <a:xfrm>
            <a:off x="10062972" y="527963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6" name="Image 9" descr="trending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1844" y="5398508"/>
            <a:ext cx="329184" cy="329184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043416" y="59014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400" dirty="0"/>
          </a:p>
        </p:txBody>
      </p:sp>
      <p:sp>
        <p:nvSpPr>
          <p:cNvPr id="58" name="Text 46"/>
          <p:cNvSpPr/>
          <p:nvPr/>
        </p:nvSpPr>
        <p:spPr>
          <a:xfrm>
            <a:off x="9043416" y="61574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a given risk changed year over year?</a:t>
            </a:r>
            <a:endParaRPr lang="en-US" sz="13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A2025D-C71C-BC73-A785-B7507DAB8365}"/>
              </a:ext>
            </a:extLst>
          </p:cNvPr>
          <p:cNvSpPr txBox="1"/>
          <p:nvPr/>
        </p:nvSpPr>
        <p:spPr>
          <a:xfrm>
            <a:off x="325358" y="75483"/>
            <a:ext cx="1055413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4500" b="0" i="0" dirty="0">
                <a:solidFill>
                  <a:srgbClr val="102A89"/>
                </a:solidFill>
                <a:effectLst/>
              </a:rPr>
              <a:t>Structured Risk Intelligence</a:t>
            </a:r>
            <a:endParaRPr lang="en-IN" sz="4500" dirty="0">
              <a:effectLst/>
            </a:endParaRPr>
          </a:p>
        </p:txBody>
      </p:sp>
      <p:sp>
        <p:nvSpPr>
          <p:cNvPr id="62" name="Lightning Bolt 61">
            <a:extLst>
              <a:ext uri="{FF2B5EF4-FFF2-40B4-BE49-F238E27FC236}">
                <a16:creationId xmlns:a16="http://schemas.microsoft.com/office/drawing/2014/main" id="{D5E81782-1740-3FAB-7E77-040CF6EB6CC5}"/>
              </a:ext>
            </a:extLst>
          </p:cNvPr>
          <p:cNvSpPr/>
          <p:nvPr/>
        </p:nvSpPr>
        <p:spPr>
          <a:xfrm>
            <a:off x="7955280" y="1966737"/>
            <a:ext cx="489204" cy="493776"/>
          </a:xfrm>
          <a:prstGeom prst="lightningBol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E612B264-E34C-F14F-F42B-8E9A63610F5E}"/>
              </a:ext>
            </a:extLst>
          </p:cNvPr>
          <p:cNvSpPr/>
          <p:nvPr/>
        </p:nvSpPr>
        <p:spPr>
          <a:xfrm>
            <a:off x="9588141" y="-1729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87F71E6-3C64-E305-46A0-D1D0A9287EDE}"/>
              </a:ext>
            </a:extLst>
          </p:cNvPr>
          <p:cNvSpPr/>
          <p:nvPr/>
        </p:nvSpPr>
        <p:spPr>
          <a:xfrm>
            <a:off x="457200" y="2926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E2761"/>
                </a:solidFill>
                <a:ea typeface="Cambria" pitchFamily="34" charset="-122"/>
                <a:cs typeface="Cambria" pitchFamily="34" charset="-120"/>
              </a:rPr>
              <a:t>Why This Problem Is Commercially Relevant?</a:t>
            </a:r>
            <a:endParaRPr lang="en-US" sz="45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A0B42F5-9DA5-645D-DA2C-AEC44BCDA4B8}"/>
              </a:ext>
            </a:extLst>
          </p:cNvPr>
          <p:cNvSpPr/>
          <p:nvPr/>
        </p:nvSpPr>
        <p:spPr>
          <a:xfrm>
            <a:off x="457200" y="8229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extraction and structuring of high-value business information is already a substantial, well-funded commercial category.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6B06E1F-53DD-1525-54A7-9E99E6AB093F}"/>
              </a:ext>
            </a:extLst>
          </p:cNvPr>
          <p:cNvSpPr/>
          <p:nvPr/>
        </p:nvSpPr>
        <p:spPr>
          <a:xfrm>
            <a:off x="457200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</a:t>
            </a:r>
            <a:endParaRPr lang="en-US" sz="1500" b="1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30F483A-2BFF-B214-DA7C-4D4481C09794}"/>
              </a:ext>
            </a:extLst>
          </p:cNvPr>
          <p:cNvSpPr/>
          <p:nvPr/>
        </p:nvSpPr>
        <p:spPr>
          <a:xfrm>
            <a:off x="457200" y="1481328"/>
            <a:ext cx="5522976" cy="1078992"/>
          </a:xfrm>
          <a:prstGeom prst="roundRect">
            <a:avLst>
              <a:gd name="adj" fmla="val 678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93C85C8-8A1D-5422-6080-64826ACA2884}"/>
              </a:ext>
            </a:extLst>
          </p:cNvPr>
          <p:cNvSpPr/>
          <p:nvPr/>
        </p:nvSpPr>
        <p:spPr>
          <a:xfrm>
            <a:off x="1408176" y="1609344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AlphaSense</a:t>
            </a:r>
            <a:endParaRPr lang="en-US" sz="15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83DCBD0-BA52-8676-B9C8-F435827C3CD1}"/>
              </a:ext>
            </a:extLst>
          </p:cNvPr>
          <p:cNvSpPr/>
          <p:nvPr/>
        </p:nvSpPr>
        <p:spPr>
          <a:xfrm>
            <a:off x="1408176" y="186537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AI-powered market &amp; financial intelligence</a:t>
            </a:r>
            <a:endParaRPr lang="en-US" sz="13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57F867F-BB03-BAD1-BD16-49E42D0BEE78}"/>
              </a:ext>
            </a:extLst>
          </p:cNvPr>
          <p:cNvSpPr/>
          <p:nvPr/>
        </p:nvSpPr>
        <p:spPr>
          <a:xfrm>
            <a:off x="1408176" y="210312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$600M+ ARR*   ·   $7.5B valuation   ·   6,500+ customers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3F68036-101D-EBE1-C2AE-85D8F81F1F52}"/>
              </a:ext>
            </a:extLst>
          </p:cNvPr>
          <p:cNvSpPr/>
          <p:nvPr/>
        </p:nvSpPr>
        <p:spPr>
          <a:xfrm>
            <a:off x="1408176" y="234086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June 2026</a:t>
            </a:r>
            <a:endParaRPr lang="en-US" sz="12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0562F90D-CD05-ACF4-84E0-9434B0D37438}"/>
              </a:ext>
            </a:extLst>
          </p:cNvPr>
          <p:cNvSpPr/>
          <p:nvPr/>
        </p:nvSpPr>
        <p:spPr>
          <a:xfrm>
            <a:off x="6208776" y="1481328"/>
            <a:ext cx="5522976" cy="1078992"/>
          </a:xfrm>
          <a:prstGeom prst="roundRect">
            <a:avLst>
              <a:gd name="adj" fmla="val 678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F60F1045-C98D-5FC1-79E9-6A4AD5E9DD71}"/>
              </a:ext>
            </a:extLst>
          </p:cNvPr>
          <p:cNvSpPr/>
          <p:nvPr/>
        </p:nvSpPr>
        <p:spPr>
          <a:xfrm>
            <a:off x="7159752" y="1609344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FiscalNote</a:t>
            </a:r>
            <a:endParaRPr lang="en-US" sz="15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07AD39A-64D2-75BB-80F8-F62A0CD31B75}"/>
              </a:ext>
            </a:extLst>
          </p:cNvPr>
          <p:cNvSpPr/>
          <p:nvPr/>
        </p:nvSpPr>
        <p:spPr>
          <a:xfrm>
            <a:off x="7159752" y="186537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AI-driven regulatory &amp; policy intelligence</a:t>
            </a:r>
            <a:endParaRPr lang="en-US" sz="13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699337A-F960-81E1-1C17-3FA7EE894A4F}"/>
              </a:ext>
            </a:extLst>
          </p:cNvPr>
          <p:cNvSpPr/>
          <p:nvPr/>
        </p:nvSpPr>
        <p:spPr>
          <a:xfrm>
            <a:off x="7159752" y="2103120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~$84M ARR*</a:t>
            </a:r>
            <a:endParaRPr lang="en-US" sz="13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D93B416-E89C-384A-DBDF-930A096CCEEC}"/>
              </a:ext>
            </a:extLst>
          </p:cNvPr>
          <p:cNvSpPr/>
          <p:nvPr/>
        </p:nvSpPr>
        <p:spPr>
          <a:xfrm>
            <a:off x="7159752" y="234086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2025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C18F1C36-B8CF-108D-90E5-7332F8D0AB4D}"/>
              </a:ext>
            </a:extLst>
          </p:cNvPr>
          <p:cNvSpPr/>
          <p:nvPr/>
        </p:nvSpPr>
        <p:spPr>
          <a:xfrm>
            <a:off x="457200" y="261518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intelligence platforms, shown for market validation — not direct equivalents of this risk-extraction pipeline.</a:t>
            </a:r>
            <a:endParaRPr lang="en-US" sz="13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3BB131E-6C12-B436-EE10-E8B8A40F2744}"/>
              </a:ext>
            </a:extLst>
          </p:cNvPr>
          <p:cNvSpPr/>
          <p:nvPr/>
        </p:nvSpPr>
        <p:spPr>
          <a:xfrm>
            <a:off x="457200" y="30540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LOGIC</a:t>
            </a:r>
            <a:endParaRPr lang="en-US" sz="150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CE207F50-798F-0890-42CF-F2E58B3CEF89}"/>
              </a:ext>
            </a:extLst>
          </p:cNvPr>
          <p:cNvSpPr/>
          <p:nvPr/>
        </p:nvSpPr>
        <p:spPr>
          <a:xfrm>
            <a:off x="457200" y="3364992"/>
            <a:ext cx="2544318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EFD6171-D94F-3B35-7020-E41727DE2B22}"/>
              </a:ext>
            </a:extLst>
          </p:cNvPr>
          <p:cNvSpPr/>
          <p:nvPr/>
        </p:nvSpPr>
        <p:spPr>
          <a:xfrm>
            <a:off x="548640" y="3364992"/>
            <a:ext cx="23614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Reports / Quarter</a:t>
            </a:r>
            <a:endParaRPr lang="en-US" sz="13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C68A26A0-215B-B71F-E810-D225FE567EC5}"/>
              </a:ext>
            </a:extLst>
          </p:cNvPr>
          <p:cNvSpPr/>
          <p:nvPr/>
        </p:nvSpPr>
        <p:spPr>
          <a:xfrm>
            <a:off x="3038094" y="3593592"/>
            <a:ext cx="292608" cy="164592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FBAA7BBD-E2BE-CC02-9BDA-E367E2F52C66}"/>
              </a:ext>
            </a:extLst>
          </p:cNvPr>
          <p:cNvSpPr/>
          <p:nvPr/>
        </p:nvSpPr>
        <p:spPr>
          <a:xfrm>
            <a:off x="3367278" y="3364992"/>
            <a:ext cx="2544318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77600AA0-295F-5FEC-8712-97B5BEA2670C}"/>
              </a:ext>
            </a:extLst>
          </p:cNvPr>
          <p:cNvSpPr/>
          <p:nvPr/>
        </p:nvSpPr>
        <p:spPr>
          <a:xfrm>
            <a:off x="3458718" y="3364992"/>
            <a:ext cx="23614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Analyst Effort</a:t>
            </a:r>
            <a:endParaRPr lang="en-US" sz="1300" dirty="0"/>
          </a:p>
        </p:txBody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7B38E724-B6AE-EBCC-BECF-7A1D0A93BAC9}"/>
              </a:ext>
            </a:extLst>
          </p:cNvPr>
          <p:cNvSpPr/>
          <p:nvPr/>
        </p:nvSpPr>
        <p:spPr>
          <a:xfrm>
            <a:off x="5948172" y="3593592"/>
            <a:ext cx="292608" cy="164592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Shape 25">
            <a:extLst>
              <a:ext uri="{FF2B5EF4-FFF2-40B4-BE49-F238E27FC236}">
                <a16:creationId xmlns:a16="http://schemas.microsoft.com/office/drawing/2014/main" id="{90338947-2CBE-7556-6D32-9A7CEBCB0389}"/>
              </a:ext>
            </a:extLst>
          </p:cNvPr>
          <p:cNvSpPr/>
          <p:nvPr/>
        </p:nvSpPr>
        <p:spPr>
          <a:xfrm>
            <a:off x="6277356" y="3364992"/>
            <a:ext cx="2544318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88241B2-2115-3946-15DE-B3E281A8D6D7}"/>
              </a:ext>
            </a:extLst>
          </p:cNvPr>
          <p:cNvSpPr/>
          <p:nvPr/>
        </p:nvSpPr>
        <p:spPr>
          <a:xfrm>
            <a:off x="6368796" y="3364992"/>
            <a:ext cx="23614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First Pass</a:t>
            </a:r>
            <a:endParaRPr lang="en-US" sz="130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BB241BC6-2265-6F8B-08CF-3945E0B7D95D}"/>
              </a:ext>
            </a:extLst>
          </p:cNvPr>
          <p:cNvSpPr/>
          <p:nvPr/>
        </p:nvSpPr>
        <p:spPr>
          <a:xfrm>
            <a:off x="8858250" y="3593592"/>
            <a:ext cx="292608" cy="164592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B7F3F6CD-CFDE-015B-1B97-10A6A6439DA4}"/>
              </a:ext>
            </a:extLst>
          </p:cNvPr>
          <p:cNvSpPr/>
          <p:nvPr/>
        </p:nvSpPr>
        <p:spPr>
          <a:xfrm>
            <a:off x="9187434" y="3364992"/>
            <a:ext cx="2544318" cy="621792"/>
          </a:xfrm>
          <a:prstGeom prst="roundRect">
            <a:avLst>
              <a:gd name="adj" fmla="val 10294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12A5B735-B557-EA5F-D0AD-9431DB53FDF4}"/>
              </a:ext>
            </a:extLst>
          </p:cNvPr>
          <p:cNvSpPr/>
          <p:nvPr/>
        </p:nvSpPr>
        <p:spPr>
          <a:xfrm>
            <a:off x="9278874" y="3364992"/>
            <a:ext cx="23614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 Validation</a:t>
            </a:r>
            <a:endParaRPr lang="en-US" sz="13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5BB51030-F636-BA8A-241A-1631CA518DA8}"/>
              </a:ext>
            </a:extLst>
          </p:cNvPr>
          <p:cNvSpPr/>
          <p:nvPr/>
        </p:nvSpPr>
        <p:spPr>
          <a:xfrm>
            <a:off x="457200" y="4315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CREATION</a:t>
            </a:r>
            <a:endParaRPr lang="en-US" sz="1500" dirty="0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4BAD5D2C-32CF-8ABC-BA81-E56E8DC64A5A}"/>
              </a:ext>
            </a:extLst>
          </p:cNvPr>
          <p:cNvSpPr/>
          <p:nvPr/>
        </p:nvSpPr>
        <p:spPr>
          <a:xfrm>
            <a:off x="457200" y="466344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7" name="Image 0" descr="zap-white.png">
            <a:extLst>
              <a:ext uri="{FF2B5EF4-FFF2-40B4-BE49-F238E27FC236}">
                <a16:creationId xmlns:a16="http://schemas.microsoft.com/office/drawing/2014/main" id="{2B77CF8D-34FE-C29E-1F52-6C16A279D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54880"/>
            <a:ext cx="292608" cy="292608"/>
          </a:xfrm>
          <a:prstGeom prst="rect">
            <a:avLst/>
          </a:prstGeom>
        </p:spPr>
      </p:pic>
      <p:sp>
        <p:nvSpPr>
          <p:cNvPr id="69" name="Text 32">
            <a:extLst>
              <a:ext uri="{FF2B5EF4-FFF2-40B4-BE49-F238E27FC236}">
                <a16:creationId xmlns:a16="http://schemas.microsoft.com/office/drawing/2014/main" id="{B88647B7-A959-DE19-6F9E-15CE8A1B846D}"/>
              </a:ext>
            </a:extLst>
          </p:cNvPr>
          <p:cNvSpPr/>
          <p:nvPr/>
        </p:nvSpPr>
        <p:spPr>
          <a:xfrm>
            <a:off x="1069848" y="4636008"/>
            <a:ext cx="290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C4EB248D-F470-F0C7-B9DD-C44BA3A88704}"/>
              </a:ext>
            </a:extLst>
          </p:cNvPr>
          <p:cNvSpPr/>
          <p:nvPr/>
        </p:nvSpPr>
        <p:spPr>
          <a:xfrm>
            <a:off x="1069848" y="4901184"/>
            <a:ext cx="2901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repetitive document reading and extraction work</a:t>
            </a:r>
            <a:endParaRPr lang="en-US" sz="13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69C37927-5FF4-49A2-9F32-EC82C2EEF86A}"/>
              </a:ext>
            </a:extLst>
          </p:cNvPr>
          <p:cNvSpPr/>
          <p:nvPr/>
        </p:nvSpPr>
        <p:spPr>
          <a:xfrm>
            <a:off x="4337304" y="466344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5" name="Image 1" descr="check-white.png">
            <a:extLst>
              <a:ext uri="{FF2B5EF4-FFF2-40B4-BE49-F238E27FC236}">
                <a16:creationId xmlns:a16="http://schemas.microsoft.com/office/drawing/2014/main" id="{CF3E5930-7412-71A0-B4E5-D5110DA76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744" y="4754880"/>
            <a:ext cx="292608" cy="292608"/>
          </a:xfrm>
          <a:prstGeom prst="rect">
            <a:avLst/>
          </a:prstGeom>
        </p:spPr>
      </p:pic>
      <p:sp>
        <p:nvSpPr>
          <p:cNvPr id="77" name="Text 35">
            <a:extLst>
              <a:ext uri="{FF2B5EF4-FFF2-40B4-BE49-F238E27FC236}">
                <a16:creationId xmlns:a16="http://schemas.microsoft.com/office/drawing/2014/main" id="{B7D4591F-9ABE-DAAD-C7D3-599C7555B57B}"/>
              </a:ext>
            </a:extLst>
          </p:cNvPr>
          <p:cNvSpPr/>
          <p:nvPr/>
        </p:nvSpPr>
        <p:spPr>
          <a:xfrm>
            <a:off x="4949952" y="4636008"/>
            <a:ext cx="290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79" name="Text 36">
            <a:extLst>
              <a:ext uri="{FF2B5EF4-FFF2-40B4-BE49-F238E27FC236}">
                <a16:creationId xmlns:a16="http://schemas.microsoft.com/office/drawing/2014/main" id="{4FC4467B-E85A-3A50-886C-B27487126AD2}"/>
              </a:ext>
            </a:extLst>
          </p:cNvPr>
          <p:cNvSpPr/>
          <p:nvPr/>
        </p:nvSpPr>
        <p:spPr>
          <a:xfrm>
            <a:off x="4949952" y="4901184"/>
            <a:ext cx="2901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extraction schema and evaluation across every report</a:t>
            </a:r>
            <a:endParaRPr lang="en-US" sz="1300" dirty="0"/>
          </a:p>
        </p:txBody>
      </p:sp>
      <p:sp>
        <p:nvSpPr>
          <p:cNvPr id="81" name="Shape 37">
            <a:extLst>
              <a:ext uri="{FF2B5EF4-FFF2-40B4-BE49-F238E27FC236}">
                <a16:creationId xmlns:a16="http://schemas.microsoft.com/office/drawing/2014/main" id="{CB486A92-0505-FCC3-DEB8-620FD4E509D5}"/>
              </a:ext>
            </a:extLst>
          </p:cNvPr>
          <p:cNvSpPr/>
          <p:nvPr/>
        </p:nvSpPr>
        <p:spPr>
          <a:xfrm>
            <a:off x="8217408" y="466344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3" name="Image 2" descr="layers-white.png">
            <a:extLst>
              <a:ext uri="{FF2B5EF4-FFF2-40B4-BE49-F238E27FC236}">
                <a16:creationId xmlns:a16="http://schemas.microsoft.com/office/drawing/2014/main" id="{FCF34C46-62EB-C950-87A5-1D5B92510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848" y="4754880"/>
            <a:ext cx="292608" cy="292608"/>
          </a:xfrm>
          <a:prstGeom prst="rect">
            <a:avLst/>
          </a:prstGeom>
        </p:spPr>
      </p:pic>
      <p:sp>
        <p:nvSpPr>
          <p:cNvPr id="85" name="Text 38">
            <a:extLst>
              <a:ext uri="{FF2B5EF4-FFF2-40B4-BE49-F238E27FC236}">
                <a16:creationId xmlns:a16="http://schemas.microsoft.com/office/drawing/2014/main" id="{50A5AC88-8B62-C0C6-D632-494D4CBE8519}"/>
              </a:ext>
            </a:extLst>
          </p:cNvPr>
          <p:cNvSpPr/>
          <p:nvPr/>
        </p:nvSpPr>
        <p:spPr>
          <a:xfrm>
            <a:off x="8830056" y="4636008"/>
            <a:ext cx="290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400" dirty="0"/>
          </a:p>
        </p:txBody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15D079FA-51E1-FFEC-A377-5CD8C3E36C5B}"/>
              </a:ext>
            </a:extLst>
          </p:cNvPr>
          <p:cNvSpPr/>
          <p:nvPr/>
        </p:nvSpPr>
        <p:spPr>
          <a:xfrm>
            <a:off x="8830056" y="4901184"/>
            <a:ext cx="2901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risks power search, comparison, trend and monitoring</a:t>
            </a:r>
            <a:endParaRPr lang="en-US" sz="1300" dirty="0"/>
          </a:p>
        </p:txBody>
      </p:sp>
      <p:sp>
        <p:nvSpPr>
          <p:cNvPr id="89" name="Shape 40">
            <a:extLst>
              <a:ext uri="{FF2B5EF4-FFF2-40B4-BE49-F238E27FC236}">
                <a16:creationId xmlns:a16="http://schemas.microsoft.com/office/drawing/2014/main" id="{5227BDA7-6273-4684-DA96-6F6F60BF3802}"/>
              </a:ext>
            </a:extLst>
          </p:cNvPr>
          <p:cNvSpPr/>
          <p:nvPr/>
        </p:nvSpPr>
        <p:spPr>
          <a:xfrm>
            <a:off x="0" y="5500395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10395A2F-57FA-72FE-BF81-E2B839287C79}"/>
              </a:ext>
            </a:extLst>
          </p:cNvPr>
          <p:cNvSpPr/>
          <p:nvPr/>
        </p:nvSpPr>
        <p:spPr>
          <a:xfrm>
            <a:off x="640080" y="5500395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 not generating JSON.  </a:t>
            </a: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 converting expensive, manual research &amp; unstructured information into reusable intelligence.</a:t>
            </a:r>
            <a:endParaRPr lang="en-US" sz="1600" b="1" dirty="0"/>
          </a:p>
        </p:txBody>
      </p:sp>
      <p:pic>
        <p:nvPicPr>
          <p:cNvPr id="93" name="Picture 92" descr="What is AlphaSense?">
            <a:extLst>
              <a:ext uri="{FF2B5EF4-FFF2-40B4-BE49-F238E27FC236}">
                <a16:creationId xmlns:a16="http://schemas.microsoft.com/office/drawing/2014/main" id="{32B7EA75-363B-226B-2055-EB1C336380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51" y="1665043"/>
            <a:ext cx="639245" cy="639245"/>
          </a:xfrm>
          <a:prstGeom prst="rect">
            <a:avLst/>
          </a:prstGeom>
        </p:spPr>
      </p:pic>
      <p:pic>
        <p:nvPicPr>
          <p:cNvPr id="94" name="Picture 93" descr="FiscalNote - Wikipedia">
            <a:extLst>
              <a:ext uri="{FF2B5EF4-FFF2-40B4-BE49-F238E27FC236}">
                <a16:creationId xmlns:a16="http://schemas.microsoft.com/office/drawing/2014/main" id="{AEE9C95A-6C40-7A8D-0579-DCA76AD3CB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796" y="1662969"/>
            <a:ext cx="639245" cy="641319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62DBD9AF-66E7-EEDD-5F43-51A8E0E29913}"/>
              </a:ext>
            </a:extLst>
          </p:cNvPr>
          <p:cNvSpPr txBox="1"/>
          <p:nvPr/>
        </p:nvSpPr>
        <p:spPr>
          <a:xfrm>
            <a:off x="457200" y="6531317"/>
            <a:ext cx="609755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(*Annual Recurring Revenue)</a:t>
            </a:r>
            <a:endParaRPr lang="en-IN" dirty="0"/>
          </a:p>
        </p:txBody>
      </p:sp>
      <p:sp>
        <p:nvSpPr>
          <p:cNvPr id="98" name="Text 39">
            <a:extLst>
              <a:ext uri="{FF2B5EF4-FFF2-40B4-BE49-F238E27FC236}">
                <a16:creationId xmlns:a16="http://schemas.microsoft.com/office/drawing/2014/main" id="{97850EAE-FEAC-BD45-771B-C629790DC919}"/>
              </a:ext>
            </a:extLst>
          </p:cNvPr>
          <p:cNvSpPr/>
          <p:nvPr/>
        </p:nvSpPr>
        <p:spPr>
          <a:xfrm>
            <a:off x="9588141" y="-1729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89017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A4A7FC3-E584-DBF4-C386-E53A6FD62891}"/>
              </a:ext>
            </a:extLst>
          </p:cNvPr>
          <p:cNvSpPr/>
          <p:nvPr/>
        </p:nvSpPr>
        <p:spPr>
          <a:xfrm>
            <a:off x="457200" y="124653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SCOPE</a:t>
            </a:r>
            <a:endParaRPr lang="en-US" sz="45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DC307FB-603F-C00E-480E-26CCE0A50D84}"/>
              </a:ext>
            </a:extLst>
          </p:cNvPr>
          <p:cNvSpPr/>
          <p:nvPr/>
        </p:nvSpPr>
        <p:spPr>
          <a:xfrm>
            <a:off x="457200" y="673293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The goal was not to prototype the entire platform, but to prove its most critical transformation reliably.</a:t>
            </a:r>
            <a:endParaRPr lang="en-US" sz="15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98EE7C7-05EF-74AA-23C4-C56CFDE71B59}"/>
              </a:ext>
            </a:extLst>
          </p:cNvPr>
          <p:cNvSpPr/>
          <p:nvPr/>
        </p:nvSpPr>
        <p:spPr>
          <a:xfrm>
            <a:off x="457200" y="113049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NARROWING</a:t>
            </a:r>
            <a:endParaRPr lang="en-US" sz="15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6F79E06-C963-4927-E271-5CFBF88C944D}"/>
              </a:ext>
            </a:extLst>
          </p:cNvPr>
          <p:cNvSpPr/>
          <p:nvPr/>
        </p:nvSpPr>
        <p:spPr>
          <a:xfrm>
            <a:off x="548640" y="1432245"/>
            <a:ext cx="3200400" cy="1031963"/>
          </a:xfrm>
          <a:prstGeom prst="roundRect">
            <a:avLst>
              <a:gd name="adj" fmla="val 5926"/>
            </a:avLst>
          </a:prstGeom>
          <a:solidFill>
            <a:srgbClr val="DCE6F5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850618E-990B-B915-CD19-60F5FCA9A84A}"/>
              </a:ext>
            </a:extLst>
          </p:cNvPr>
          <p:cNvSpPr/>
          <p:nvPr/>
        </p:nvSpPr>
        <p:spPr>
          <a:xfrm>
            <a:off x="749808" y="149457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Vision</a:t>
            </a:r>
            <a:endParaRPr lang="en-US" sz="1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03DA755-E8DF-67FF-E1BC-37145B237008}"/>
              </a:ext>
            </a:extLst>
          </p:cNvPr>
          <p:cNvSpPr/>
          <p:nvPr/>
        </p:nvSpPr>
        <p:spPr>
          <a:xfrm>
            <a:off x="749808" y="1851186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reports/quarter across companies — search, compare, trend, monitor</a:t>
            </a:r>
            <a:endParaRPr lang="en-US" sz="13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8756121-7C5C-9C16-EFC8-CE7A15C42D4A}"/>
              </a:ext>
            </a:extLst>
          </p:cNvPr>
          <p:cNvSpPr/>
          <p:nvPr/>
        </p:nvSpPr>
        <p:spPr>
          <a:xfrm>
            <a:off x="4343400" y="1432245"/>
            <a:ext cx="3200400" cy="1031963"/>
          </a:xfrm>
          <a:prstGeom prst="roundRect">
            <a:avLst>
              <a:gd name="adj" fmla="val 5926"/>
            </a:avLst>
          </a:prstGeom>
          <a:solidFill>
            <a:srgbClr val="DCE6F5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B383D34-0E93-FE5F-6F85-7294FF27E8B6}"/>
              </a:ext>
            </a:extLst>
          </p:cNvPr>
          <p:cNvSpPr/>
          <p:nvPr/>
        </p:nvSpPr>
        <p:spPr>
          <a:xfrm>
            <a:off x="4544568" y="149457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Scope</a:t>
            </a:r>
            <a:endParaRPr lang="en-US" sz="1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81C8443-3707-256F-539E-7EE63C437E35}"/>
              </a:ext>
            </a:extLst>
          </p:cNvPr>
          <p:cNvSpPr/>
          <p:nvPr/>
        </p:nvSpPr>
        <p:spPr>
          <a:xfrm>
            <a:off x="4544568" y="1851186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Vestas Annual Report — selected risk-related sections</a:t>
            </a:r>
            <a:endParaRPr lang="en-US" sz="13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588871A0-3393-5EB0-9A10-A08BB69DF85C}"/>
              </a:ext>
            </a:extLst>
          </p:cNvPr>
          <p:cNvSpPr/>
          <p:nvPr/>
        </p:nvSpPr>
        <p:spPr>
          <a:xfrm>
            <a:off x="8138160" y="1432245"/>
            <a:ext cx="3200400" cy="1031963"/>
          </a:xfrm>
          <a:prstGeom prst="roundRect">
            <a:avLst>
              <a:gd name="adj" fmla="val 5926"/>
            </a:avLst>
          </a:prstGeom>
          <a:solidFill>
            <a:srgbClr val="1F3864"/>
          </a:solidFill>
          <a:ln/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E9FF758-6ACC-27F7-3CCE-7D0FCC415DA4}"/>
              </a:ext>
            </a:extLst>
          </p:cNvPr>
          <p:cNvSpPr/>
          <p:nvPr/>
        </p:nvSpPr>
        <p:spPr>
          <a:xfrm>
            <a:off x="8339328" y="149457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Capabilities </a:t>
            </a:r>
            <a:endParaRPr lang="en-US" sz="14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E92D003-09EC-9915-EBAD-2551CFF3B4C7}"/>
              </a:ext>
            </a:extLst>
          </p:cNvPr>
          <p:cNvSpPr/>
          <p:nvPr/>
        </p:nvSpPr>
        <p:spPr>
          <a:xfrm>
            <a:off x="8339328" y="1851186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Parse → Extract Risks → Validate → Structured Output</a:t>
            </a:r>
            <a:endParaRPr lang="en-US" sz="1300" b="1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7B51342-5F3F-70F8-08DE-F86006DEFC8D}"/>
              </a:ext>
            </a:extLst>
          </p:cNvPr>
          <p:cNvSpPr/>
          <p:nvPr/>
        </p:nvSpPr>
        <p:spPr>
          <a:xfrm>
            <a:off x="3749040" y="1846614"/>
            <a:ext cx="594360" cy="237744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A7A18469-FC54-AFB4-5623-3C7AF2D7C571}"/>
              </a:ext>
            </a:extLst>
          </p:cNvPr>
          <p:cNvSpPr/>
          <p:nvPr/>
        </p:nvSpPr>
        <p:spPr>
          <a:xfrm>
            <a:off x="7543800" y="1846614"/>
            <a:ext cx="594360" cy="237744"/>
          </a:xfrm>
          <a:prstGeom prst="rightArrow">
            <a:avLst/>
          </a:prstGeom>
          <a:solidFill>
            <a:srgbClr val="1F3864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A9E3F50-C415-C0CF-9395-4951CA1BC7C8}"/>
              </a:ext>
            </a:extLst>
          </p:cNvPr>
          <p:cNvSpPr/>
          <p:nvPr/>
        </p:nvSpPr>
        <p:spPr>
          <a:xfrm>
            <a:off x="457200" y="252206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</a:t>
            </a:r>
            <a:r>
              <a:rPr lang="en-US" sz="12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r>
              <a:rPr lang="en-US" sz="12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4FE1D3D-F574-AC00-AF97-58F0D1EE9D5E}"/>
              </a:ext>
            </a:extLst>
          </p:cNvPr>
          <p:cNvSpPr/>
          <p:nvPr/>
        </p:nvSpPr>
        <p:spPr>
          <a:xfrm>
            <a:off x="457200" y="2823813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5" name="Image 0" descr="/home/claude/slide3/check.png">
            <a:extLst>
              <a:ext uri="{FF2B5EF4-FFF2-40B4-BE49-F238E27FC236}">
                <a16:creationId xmlns:a16="http://schemas.microsoft.com/office/drawing/2014/main" id="{3437E49D-4D28-5B54-67B9-BB5500140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924397"/>
            <a:ext cx="256032" cy="256032"/>
          </a:xfrm>
          <a:prstGeom prst="rect">
            <a:avLst/>
          </a:prstGeom>
        </p:spPr>
      </p:pic>
      <p:sp>
        <p:nvSpPr>
          <p:cNvPr id="37" name="Text 16">
            <a:extLst>
              <a:ext uri="{FF2B5EF4-FFF2-40B4-BE49-F238E27FC236}">
                <a16:creationId xmlns:a16="http://schemas.microsoft.com/office/drawing/2014/main" id="{16959826-87BF-E5F8-AEBF-D12F0C71E01E}"/>
              </a:ext>
            </a:extLst>
          </p:cNvPr>
          <p:cNvSpPr/>
          <p:nvPr/>
        </p:nvSpPr>
        <p:spPr>
          <a:xfrm>
            <a:off x="1051560" y="284210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Correctness</a:t>
            </a:r>
            <a:endParaRPr lang="en-US" sz="14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DF4DC1B3-C227-5A9D-849A-EB198CA5EE12}"/>
              </a:ext>
            </a:extLst>
          </p:cNvPr>
          <p:cNvSpPr/>
          <p:nvPr/>
        </p:nvSpPr>
        <p:spPr>
          <a:xfrm>
            <a:off x="457200" y="3390741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extracted risks actually supported by the report?</a:t>
            </a:r>
            <a:endParaRPr lang="en-US" sz="130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EDD8491C-0302-8003-6776-6387E6B23B4D}"/>
              </a:ext>
            </a:extLst>
          </p:cNvPr>
          <p:cNvSpPr/>
          <p:nvPr/>
        </p:nvSpPr>
        <p:spPr>
          <a:xfrm>
            <a:off x="4297680" y="2823813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3" name="Image 1" descr="/home/claude/slide3/link.png">
            <a:extLst>
              <a:ext uri="{FF2B5EF4-FFF2-40B4-BE49-F238E27FC236}">
                <a16:creationId xmlns:a16="http://schemas.microsoft.com/office/drawing/2014/main" id="{C11363ED-865A-6B70-ABD9-E820BBE27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924397"/>
            <a:ext cx="256032" cy="256032"/>
          </a:xfrm>
          <a:prstGeom prst="rect">
            <a:avLst/>
          </a:prstGeom>
        </p:spPr>
      </p:pic>
      <p:sp>
        <p:nvSpPr>
          <p:cNvPr id="45" name="Text 19">
            <a:extLst>
              <a:ext uri="{FF2B5EF4-FFF2-40B4-BE49-F238E27FC236}">
                <a16:creationId xmlns:a16="http://schemas.microsoft.com/office/drawing/2014/main" id="{1A05B00C-8CF6-DF55-69A2-BBCCE921D81B}"/>
              </a:ext>
            </a:extLst>
          </p:cNvPr>
          <p:cNvSpPr/>
          <p:nvPr/>
        </p:nvSpPr>
        <p:spPr>
          <a:xfrm>
            <a:off x="4892040" y="284210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Traceability</a:t>
            </a:r>
            <a:endParaRPr lang="en-US" sz="14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5D1F684-BBD4-CFBF-5A06-E8F916D01D8C}"/>
              </a:ext>
            </a:extLst>
          </p:cNvPr>
          <p:cNvSpPr/>
          <p:nvPr/>
        </p:nvSpPr>
        <p:spPr>
          <a:xfrm>
            <a:off x="4297680" y="3390741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every result be traced back to its exact source?</a:t>
            </a:r>
            <a:endParaRPr lang="en-US" sz="13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E4EB1053-368C-47F2-2A8D-1A8D858AC839}"/>
              </a:ext>
            </a:extLst>
          </p:cNvPr>
          <p:cNvSpPr/>
          <p:nvPr/>
        </p:nvSpPr>
        <p:spPr>
          <a:xfrm>
            <a:off x="8138160" y="2823813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1" name="Image 2" descr="/home/claude/slide3/chart.png">
            <a:extLst>
              <a:ext uri="{FF2B5EF4-FFF2-40B4-BE49-F238E27FC236}">
                <a16:creationId xmlns:a16="http://schemas.microsoft.com/office/drawing/2014/main" id="{BF7CC788-C582-EC88-DD66-7D47B03CD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924397"/>
            <a:ext cx="256032" cy="256032"/>
          </a:xfrm>
          <a:prstGeom prst="rect">
            <a:avLst/>
          </a:prstGeom>
        </p:spPr>
      </p:pic>
      <p:sp>
        <p:nvSpPr>
          <p:cNvPr id="53" name="Text 22">
            <a:extLst>
              <a:ext uri="{FF2B5EF4-FFF2-40B4-BE49-F238E27FC236}">
                <a16:creationId xmlns:a16="http://schemas.microsoft.com/office/drawing/2014/main" id="{4FDAB657-4E0E-2CCC-B1CA-E1088A6AB0C1}"/>
              </a:ext>
            </a:extLst>
          </p:cNvPr>
          <p:cNvSpPr/>
          <p:nvPr/>
        </p:nvSpPr>
        <p:spPr>
          <a:xfrm>
            <a:off x="8732520" y="284210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Evaluability</a:t>
            </a:r>
            <a:endParaRPr lang="en-US" sz="1400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90214BAC-87C9-5C76-AE0F-79DE7BD67723}"/>
              </a:ext>
            </a:extLst>
          </p:cNvPr>
          <p:cNvSpPr/>
          <p:nvPr/>
        </p:nvSpPr>
        <p:spPr>
          <a:xfrm>
            <a:off x="8138160" y="3390741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parser, model, or prompt change be objectively tested?</a:t>
            </a:r>
            <a:endParaRPr lang="en-US" sz="1300" dirty="0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7983D94A-A0AE-1806-DC03-2E08F6BDBEC9}"/>
              </a:ext>
            </a:extLst>
          </p:cNvPr>
          <p:cNvSpPr/>
          <p:nvPr/>
        </p:nvSpPr>
        <p:spPr>
          <a:xfrm>
            <a:off x="457200" y="3794183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primary optimization: 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coverage · throughput · lowest inference cost</a:t>
            </a:r>
            <a:endParaRPr lang="en-US" sz="130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BB19FABE-C768-0302-C25B-9A397FDAE3CC}"/>
              </a:ext>
            </a:extLst>
          </p:cNvPr>
          <p:cNvSpPr/>
          <p:nvPr/>
        </p:nvSpPr>
        <p:spPr>
          <a:xfrm>
            <a:off x="457200" y="51676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CUTS</a:t>
            </a:r>
            <a:endParaRPr lang="en-US" sz="150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2C14C8EF-D487-27D2-8ED6-F756917EC635}"/>
              </a:ext>
            </a:extLst>
          </p:cNvPr>
          <p:cNvSpPr/>
          <p:nvPr/>
        </p:nvSpPr>
        <p:spPr>
          <a:xfrm>
            <a:off x="457200" y="5434137"/>
            <a:ext cx="2715768" cy="740664"/>
          </a:xfrm>
          <a:prstGeom prst="roundRect">
            <a:avLst>
              <a:gd name="adj" fmla="val 10909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201B4522-E5F3-3C4E-2023-193B8696C777}"/>
              </a:ext>
            </a:extLst>
          </p:cNvPr>
          <p:cNvSpPr/>
          <p:nvPr/>
        </p:nvSpPr>
        <p:spPr>
          <a:xfrm>
            <a:off x="566928" y="5525577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only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formats deferred</a:t>
            </a:r>
            <a:endParaRPr lang="en-US" sz="1300" dirty="0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3B7A1136-1581-DF94-815F-5029B6766340}"/>
              </a:ext>
            </a:extLst>
          </p:cNvPr>
          <p:cNvSpPr/>
          <p:nvPr/>
        </p:nvSpPr>
        <p:spPr>
          <a:xfrm>
            <a:off x="3310128" y="5434137"/>
            <a:ext cx="2715768" cy="740664"/>
          </a:xfrm>
          <a:prstGeom prst="roundRect">
            <a:avLst>
              <a:gd name="adj" fmla="val 10909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62C4606A-6868-DFEA-3981-A313C89C8ADB}"/>
              </a:ext>
            </a:extLst>
          </p:cNvPr>
          <p:cNvSpPr/>
          <p:nvPr/>
        </p:nvSpPr>
        <p:spPr>
          <a:xfrm>
            <a:off x="3419856" y="5525577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company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Portfolio-scale processing not implemented</a:t>
            </a:r>
            <a:endParaRPr lang="en-US" sz="1300" dirty="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F610E1F7-FD8D-75BA-6ADE-91E89C0D8461}"/>
              </a:ext>
            </a:extLst>
          </p:cNvPr>
          <p:cNvSpPr/>
          <p:nvPr/>
        </p:nvSpPr>
        <p:spPr>
          <a:xfrm>
            <a:off x="6163056" y="5434137"/>
            <a:ext cx="2715768" cy="740664"/>
          </a:xfrm>
          <a:prstGeom prst="roundRect">
            <a:avLst>
              <a:gd name="adj" fmla="val 10909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1FA482D7-CB93-A1E7-390D-100B91436365}"/>
              </a:ext>
            </a:extLst>
          </p:cNvPr>
          <p:cNvSpPr/>
          <p:nvPr/>
        </p:nvSpPr>
        <p:spPr>
          <a:xfrm>
            <a:off x="6272784" y="5525577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sections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~190 pages processed</a:t>
            </a:r>
            <a:endParaRPr lang="en-US" sz="1300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4A3B46B7-2F26-C821-2E6B-8FDA40F0DC94}"/>
              </a:ext>
            </a:extLst>
          </p:cNvPr>
          <p:cNvSpPr/>
          <p:nvPr/>
        </p:nvSpPr>
        <p:spPr>
          <a:xfrm>
            <a:off x="9015984" y="5434137"/>
            <a:ext cx="2715768" cy="740664"/>
          </a:xfrm>
          <a:prstGeom prst="roundRect">
            <a:avLst>
              <a:gd name="adj" fmla="val 10909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C2B610B8-EB6A-D554-D751-A34E91F965DB}"/>
              </a:ext>
            </a:extLst>
          </p:cNvPr>
          <p:cNvSpPr/>
          <p:nvPr/>
        </p:nvSpPr>
        <p:spPr>
          <a:xfrm>
            <a:off x="9125712" y="5525577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first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Analyst-facing UI outside this slice</a:t>
            </a:r>
            <a:endParaRPr lang="en-US" sz="1300" dirty="0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B8E5385F-C95E-5AC0-A86A-13F9BCCCAEE2}"/>
              </a:ext>
            </a:extLst>
          </p:cNvPr>
          <p:cNvSpPr/>
          <p:nvPr/>
        </p:nvSpPr>
        <p:spPr>
          <a:xfrm>
            <a:off x="0" y="6275395"/>
            <a:ext cx="12188952" cy="5943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665B803D-BA7C-7684-4083-BF7AE9990B43}"/>
              </a:ext>
            </a:extLst>
          </p:cNvPr>
          <p:cNvSpPr/>
          <p:nvPr/>
        </p:nvSpPr>
        <p:spPr>
          <a:xfrm>
            <a:off x="457200" y="6275395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building the full platform. Proving the one transformation that makes it possible — correctly and traceably.</a:t>
            </a:r>
            <a:endParaRPr lang="en-US" sz="15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23702FD0-F23A-1C7A-B438-4CA2CA27F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627" y="-1062"/>
            <a:ext cx="2600325" cy="390525"/>
          </a:xfrm>
          <a:prstGeom prst="rect">
            <a:avLst/>
          </a:prstGeom>
        </p:spPr>
      </p:pic>
      <p:sp>
        <p:nvSpPr>
          <p:cNvPr id="85" name="Text 25">
            <a:extLst>
              <a:ext uri="{FF2B5EF4-FFF2-40B4-BE49-F238E27FC236}">
                <a16:creationId xmlns:a16="http://schemas.microsoft.com/office/drawing/2014/main" id="{CFF11C8D-D35A-2454-59A7-A2F6EBBBE380}"/>
              </a:ext>
            </a:extLst>
          </p:cNvPr>
          <p:cNvSpPr/>
          <p:nvPr/>
        </p:nvSpPr>
        <p:spPr>
          <a:xfrm>
            <a:off x="457200" y="408579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CAPABILITES DEVELOPED</a:t>
            </a:r>
            <a:endParaRPr lang="en-US" sz="1500" dirty="0"/>
          </a:p>
        </p:txBody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12619758-47C5-71C0-F371-9913FD2F747D}"/>
              </a:ext>
            </a:extLst>
          </p:cNvPr>
          <p:cNvSpPr/>
          <p:nvPr/>
        </p:nvSpPr>
        <p:spPr>
          <a:xfrm>
            <a:off x="459066" y="4389678"/>
            <a:ext cx="2120288" cy="740664"/>
          </a:xfrm>
          <a:prstGeom prst="roundRect">
            <a:avLst>
              <a:gd name="adj" fmla="val 1090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2F750294-791A-3677-6817-F45BC69D0355}"/>
              </a:ext>
            </a:extLst>
          </p:cNvPr>
          <p:cNvSpPr/>
          <p:nvPr/>
        </p:nvSpPr>
        <p:spPr>
          <a:xfrm>
            <a:off x="568794" y="4481118"/>
            <a:ext cx="212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Parsing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comes from complex annual reports</a:t>
            </a:r>
            <a:endParaRPr lang="en-US" sz="1300" dirty="0"/>
          </a:p>
        </p:txBody>
      </p:sp>
      <p:sp>
        <p:nvSpPr>
          <p:cNvPr id="91" name="Shape 28">
            <a:extLst>
              <a:ext uri="{FF2B5EF4-FFF2-40B4-BE49-F238E27FC236}">
                <a16:creationId xmlns:a16="http://schemas.microsoft.com/office/drawing/2014/main" id="{61A49583-04EC-3E0B-D376-3F8473F3503B}"/>
              </a:ext>
            </a:extLst>
          </p:cNvPr>
          <p:cNvSpPr/>
          <p:nvPr/>
        </p:nvSpPr>
        <p:spPr>
          <a:xfrm>
            <a:off x="2682557" y="4372940"/>
            <a:ext cx="2120288" cy="740664"/>
          </a:xfrm>
          <a:prstGeom prst="roundRect">
            <a:avLst>
              <a:gd name="adj" fmla="val 1090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981438E5-13D3-FEBF-AA90-CB93F1F06222}"/>
              </a:ext>
            </a:extLst>
          </p:cNvPr>
          <p:cNvSpPr/>
          <p:nvPr/>
        </p:nvSpPr>
        <p:spPr>
          <a:xfrm>
            <a:off x="2792285" y="4464380"/>
            <a:ext cx="212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must trust the results</a:t>
            </a:r>
            <a:endParaRPr lang="en-US" sz="1300" dirty="0"/>
          </a:p>
        </p:txBody>
      </p:sp>
      <p:sp>
        <p:nvSpPr>
          <p:cNvPr id="95" name="Shape 30">
            <a:extLst>
              <a:ext uri="{FF2B5EF4-FFF2-40B4-BE49-F238E27FC236}">
                <a16:creationId xmlns:a16="http://schemas.microsoft.com/office/drawing/2014/main" id="{CCE078CD-41BE-762F-5D27-47BCBD57CE78}"/>
              </a:ext>
            </a:extLst>
          </p:cNvPr>
          <p:cNvSpPr/>
          <p:nvPr/>
        </p:nvSpPr>
        <p:spPr>
          <a:xfrm>
            <a:off x="4911459" y="4389678"/>
            <a:ext cx="2472397" cy="740664"/>
          </a:xfrm>
          <a:prstGeom prst="roundRect">
            <a:avLst>
              <a:gd name="adj" fmla="val 1090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18A30A0F-D64D-1C70-ED58-ABCB7E99ACC1}"/>
              </a:ext>
            </a:extLst>
          </p:cNvPr>
          <p:cNvSpPr/>
          <p:nvPr/>
        </p:nvSpPr>
        <p:spPr>
          <a:xfrm>
            <a:off x="5021187" y="4481118"/>
            <a:ext cx="228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Constraint Generation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must be structured</a:t>
            </a: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921E8E81-DD85-93C7-CEA5-5242D970D97D}"/>
              </a:ext>
            </a:extLst>
          </p:cNvPr>
          <p:cNvSpPr/>
          <p:nvPr/>
        </p:nvSpPr>
        <p:spPr>
          <a:xfrm>
            <a:off x="7467494" y="4389117"/>
            <a:ext cx="2120288" cy="740664"/>
          </a:xfrm>
          <a:prstGeom prst="roundRect">
            <a:avLst>
              <a:gd name="adj" fmla="val 1090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3157202E-57A9-6174-996B-C5985FAC8F51}"/>
              </a:ext>
            </a:extLst>
          </p:cNvPr>
          <p:cNvSpPr/>
          <p:nvPr/>
        </p:nvSpPr>
        <p:spPr>
          <a:xfrm>
            <a:off x="7577221" y="4480557"/>
            <a:ext cx="228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component.</a:t>
            </a:r>
            <a:endParaRPr lang="en-US" sz="1300" dirty="0"/>
          </a:p>
        </p:txBody>
      </p:sp>
      <p:sp>
        <p:nvSpPr>
          <p:cNvPr id="103" name="Shape 32">
            <a:extLst>
              <a:ext uri="{FF2B5EF4-FFF2-40B4-BE49-F238E27FC236}">
                <a16:creationId xmlns:a16="http://schemas.microsoft.com/office/drawing/2014/main" id="{7B43F0FD-F973-AC42-3376-0618E184A292}"/>
              </a:ext>
            </a:extLst>
          </p:cNvPr>
          <p:cNvSpPr/>
          <p:nvPr/>
        </p:nvSpPr>
        <p:spPr>
          <a:xfrm>
            <a:off x="9677735" y="4383623"/>
            <a:ext cx="2120288" cy="740664"/>
          </a:xfrm>
          <a:prstGeom prst="roundRect">
            <a:avLst>
              <a:gd name="adj" fmla="val 10909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5" name="Text 33">
            <a:extLst>
              <a:ext uri="{FF2B5EF4-FFF2-40B4-BE49-F238E27FC236}">
                <a16:creationId xmlns:a16="http://schemas.microsoft.com/office/drawing/2014/main" id="{A10EB3C9-3600-F76A-C988-3CF53352FB01}"/>
              </a:ext>
            </a:extLst>
          </p:cNvPr>
          <p:cNvSpPr/>
          <p:nvPr/>
        </p:nvSpPr>
        <p:spPr>
          <a:xfrm>
            <a:off x="9787463" y="4475063"/>
            <a:ext cx="212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
</a:t>
            </a: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must be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0861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37804158-3C5E-85B6-173B-71876CA0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EB30005-EC77-7749-18F3-05ADA203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59594"/>
            <a:ext cx="7924022" cy="4572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8628D1ED-5DD0-0C13-ADA5-C8230D069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981075"/>
            <a:ext cx="1333500" cy="511492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D882CDFC-013B-ED3F-91D4-F5F962EA1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981075"/>
            <a:ext cx="7200900" cy="511492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3AECEC4-0A5C-CFD4-009B-1C9D081F6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981075"/>
            <a:ext cx="2667000" cy="5114925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DADF3B62-AD03-9234-3A63-84CA9DD4E9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5567" y="895350"/>
            <a:ext cx="3992091" cy="209550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5A2FDA51-8152-70C3-B960-DF245FC845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5925" y="4567088"/>
            <a:ext cx="2419350" cy="1404789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CC65DE0C-F6BC-5BDB-9BD4-F64E19A5C2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1200" y="1609726"/>
            <a:ext cx="3381375" cy="4352924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5408E063-5CB0-279B-5F08-DAB8ED635D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925" y="1609726"/>
            <a:ext cx="3381375" cy="4352924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F425188B-7E67-0513-38BE-54133EAB9D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0" y="4272260"/>
            <a:ext cx="3133725" cy="89282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02D0FD21-12BF-E187-3A8F-FE8F3822D6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5025" y="2274146"/>
            <a:ext cx="3133725" cy="323850"/>
          </a:xfrm>
          <a:prstGeom prst="rect">
            <a:avLst/>
          </a:prstGeom>
        </p:spPr>
      </p:pic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2BD12660-7C69-BB91-E1C8-7768FA4760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5025" y="2788496"/>
            <a:ext cx="3133725" cy="323850"/>
          </a:xfrm>
          <a:prstGeom prst="rect">
            <a:avLst/>
          </a:prstGeom>
        </p:spPr>
      </p:pic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7355C643-5731-26AD-7A7F-1C23C6D213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5025" y="3302846"/>
            <a:ext cx="3133725" cy="323850"/>
          </a:xfrm>
          <a:prstGeom prst="rect">
            <a:avLst/>
          </a:prstGeom>
        </p:spPr>
      </p:pic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DDC897EE-5D57-4163-712E-0EF51FA3DF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5025" y="3817196"/>
            <a:ext cx="3133725" cy="323850"/>
          </a:xfrm>
          <a:prstGeom prst="rect">
            <a:avLst/>
          </a:prstGeom>
        </p:spPr>
      </p:pic>
      <p:pic>
        <p:nvPicPr>
          <p:cNvPr id="51" name="Picture 50" descr="image.png">
            <a:extLst>
              <a:ext uri="{FF2B5EF4-FFF2-40B4-BE49-F238E27FC236}">
                <a16:creationId xmlns:a16="http://schemas.microsoft.com/office/drawing/2014/main" id="{45EF42B7-588A-4A35-6F28-91D36DDCF7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0" y="2245667"/>
            <a:ext cx="3133725" cy="323850"/>
          </a:xfrm>
          <a:prstGeom prst="rect">
            <a:avLst/>
          </a:prstGeom>
        </p:spPr>
      </p:pic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3A254F07-B084-E230-D8BD-0D136B2DE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0" y="2760017"/>
            <a:ext cx="3133725" cy="323850"/>
          </a:xfrm>
          <a:prstGeom prst="rect">
            <a:avLst/>
          </a:prstGeom>
        </p:spPr>
      </p:pic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ADE05600-111A-5BBD-3FB0-430D1B1387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0" y="3274367"/>
            <a:ext cx="3133725" cy="32385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3FCA495-3671-7688-5062-A1C730C87D3B}"/>
              </a:ext>
            </a:extLst>
          </p:cNvPr>
          <p:cNvSpPr txBox="1"/>
          <p:nvPr/>
        </p:nvSpPr>
        <p:spPr>
          <a:xfrm>
            <a:off x="671363" y="-6365"/>
            <a:ext cx="5991217" cy="69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4500" b="0" i="0" u="none" dirty="0">
                <a:solidFill>
                  <a:srgbClr val="0F172A"/>
                </a:solidFill>
              </a:rPr>
              <a:t>Solution </a:t>
            </a:r>
            <a:r>
              <a:rPr sz="4500" b="0" i="0" u="none" dirty="0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0FB0ED-7016-D64F-C078-6703A1A5640A}"/>
              </a:ext>
            </a:extLst>
          </p:cNvPr>
          <p:cNvSpPr txBox="1"/>
          <p:nvPr/>
        </p:nvSpPr>
        <p:spPr>
          <a:xfrm>
            <a:off x="342900" y="600075"/>
            <a:ext cx="8305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u="none" dirty="0">
                <a:solidFill>
                  <a:srgbClr val="64748B"/>
                </a:solidFill>
              </a:rPr>
              <a:t>Modular pipeline transforming unstructured annual reports into grounded, traceable risk data</a:t>
            </a:r>
            <a:endParaRPr sz="1500" b="1" i="0" u="none" dirty="0">
              <a:solidFill>
                <a:srgbClr val="64748B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8FEEBE-0DF5-FD70-2A41-97362719C585}"/>
              </a:ext>
            </a:extLst>
          </p:cNvPr>
          <p:cNvSpPr txBox="1"/>
          <p:nvPr/>
        </p:nvSpPr>
        <p:spPr>
          <a:xfrm>
            <a:off x="614362" y="4081462"/>
            <a:ext cx="7905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500" b="0" i="0" u="none" dirty="0">
                <a:solidFill>
                  <a:srgbClr val="334155"/>
                </a:solidFill>
              </a:rPr>
              <a:t>Annual Reports</a:t>
            </a:r>
            <a:endParaRPr sz="1500" b="0" i="0" u="none" dirty="0">
              <a:solidFill>
                <a:srgbClr val="334155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ABAFFA-5881-3D80-63AD-31D3EC06EDC5}"/>
              </a:ext>
            </a:extLst>
          </p:cNvPr>
          <p:cNvSpPr txBox="1"/>
          <p:nvPr/>
        </p:nvSpPr>
        <p:spPr>
          <a:xfrm>
            <a:off x="441358" y="4541102"/>
            <a:ext cx="112395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u="none" dirty="0">
                <a:solidFill>
                  <a:srgbClr val="64748B"/>
                </a:solidFill>
              </a:rPr>
              <a:t>Unstructured PDFs, tables, financial narratives &amp; layout structures</a:t>
            </a:r>
          </a:p>
        </p:txBody>
      </p:sp>
      <p:pic>
        <p:nvPicPr>
          <p:cNvPr id="71" name="Picture 70" descr="image.png">
            <a:extLst>
              <a:ext uri="{FF2B5EF4-FFF2-40B4-BE49-F238E27FC236}">
                <a16:creationId xmlns:a16="http://schemas.microsoft.com/office/drawing/2014/main" id="{D4CF0069-01E2-ECA7-CEA0-8F75D5A6F9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9081" y="1104899"/>
            <a:ext cx="1990371" cy="225325"/>
          </a:xfrm>
          <a:prstGeom prst="rect">
            <a:avLst/>
          </a:prstGeom>
        </p:spPr>
      </p:pic>
      <p:pic>
        <p:nvPicPr>
          <p:cNvPr id="73" name="Picture 72" descr="image.png">
            <a:extLst>
              <a:ext uri="{FF2B5EF4-FFF2-40B4-BE49-F238E27FC236}">
                <a16:creationId xmlns:a16="http://schemas.microsoft.com/office/drawing/2014/main" id="{24746A05-8CA1-C18A-CD3E-2026FCA5115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6454844"/>
            <a:ext cx="266700" cy="2667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48CE04D-E73B-2BBB-DB6C-7020D246A164}"/>
              </a:ext>
            </a:extLst>
          </p:cNvPr>
          <p:cNvSpPr txBox="1"/>
          <p:nvPr/>
        </p:nvSpPr>
        <p:spPr>
          <a:xfrm>
            <a:off x="914399" y="6516756"/>
            <a:ext cx="71272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u="none" dirty="0">
                <a:solidFill>
                  <a:srgbClr val="F8FAFC"/>
                </a:solidFill>
              </a:rPr>
              <a:t>Takeaway: </a:t>
            </a:r>
            <a:r>
              <a:rPr sz="1300" b="1" i="0" u="none" dirty="0">
                <a:solidFill>
                  <a:srgbClr val="38BDF8"/>
                </a:solidFill>
              </a:rPr>
              <a:t>“From unstructured annual reports to structured, traceable, and query able risk intelligence.”</a:t>
            </a:r>
          </a:p>
        </p:txBody>
      </p:sp>
      <p:pic>
        <p:nvPicPr>
          <p:cNvPr id="79" name="Picture 78" descr="image.png">
            <a:extLst>
              <a:ext uri="{FF2B5EF4-FFF2-40B4-BE49-F238E27FC236}">
                <a16:creationId xmlns:a16="http://schemas.microsoft.com/office/drawing/2014/main" id="{641ACB7B-1F01-44B2-D262-8F7D81459F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334" y="143749"/>
            <a:ext cx="454852" cy="408701"/>
          </a:xfrm>
          <a:prstGeom prst="rect">
            <a:avLst/>
          </a:prstGeom>
        </p:spPr>
      </p:pic>
      <p:pic>
        <p:nvPicPr>
          <p:cNvPr id="85" name="Picture 84" descr="image.png">
            <a:extLst>
              <a:ext uri="{FF2B5EF4-FFF2-40B4-BE49-F238E27FC236}">
                <a16:creationId xmlns:a16="http://schemas.microsoft.com/office/drawing/2014/main" id="{C8949F3B-5AAB-FDC1-B922-2804DC6FE7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9725" y="3462337"/>
            <a:ext cx="133350" cy="152400"/>
          </a:xfrm>
          <a:prstGeom prst="rect">
            <a:avLst/>
          </a:prstGeom>
        </p:spPr>
      </p:pic>
      <p:pic>
        <p:nvPicPr>
          <p:cNvPr id="87" name="Picture 86" descr="image.png">
            <a:extLst>
              <a:ext uri="{FF2B5EF4-FFF2-40B4-BE49-F238E27FC236}">
                <a16:creationId xmlns:a16="http://schemas.microsoft.com/office/drawing/2014/main" id="{04C34BF0-CCE7-5F2E-EDD7-6048AEDE708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500" y="923924"/>
            <a:ext cx="175081" cy="161925"/>
          </a:xfrm>
          <a:prstGeom prst="rect">
            <a:avLst/>
          </a:prstGeom>
        </p:spPr>
      </p:pic>
      <p:pic>
        <p:nvPicPr>
          <p:cNvPr id="89" name="Picture 88" descr="image.png">
            <a:extLst>
              <a:ext uri="{FF2B5EF4-FFF2-40B4-BE49-F238E27FC236}">
                <a16:creationId xmlns:a16="http://schemas.microsoft.com/office/drawing/2014/main" id="{001F20F5-59E2-613D-6CAB-C13FDA33958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53500" y="3462337"/>
            <a:ext cx="133350" cy="152400"/>
          </a:xfrm>
          <a:prstGeom prst="rect">
            <a:avLst/>
          </a:prstGeom>
        </p:spPr>
      </p:pic>
      <p:pic>
        <p:nvPicPr>
          <p:cNvPr id="93" name="Picture 92" descr="image.png">
            <a:extLst>
              <a:ext uri="{FF2B5EF4-FFF2-40B4-BE49-F238E27FC236}">
                <a16:creationId xmlns:a16="http://schemas.microsoft.com/office/drawing/2014/main" id="{99C3B10D-3AC4-B537-668A-A319687B37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" y="6535614"/>
            <a:ext cx="95250" cy="123825"/>
          </a:xfrm>
          <a:prstGeom prst="rect">
            <a:avLst/>
          </a:prstGeom>
        </p:spPr>
      </p:pic>
      <p:pic>
        <p:nvPicPr>
          <p:cNvPr id="95" name="Picture 94" descr="image.png">
            <a:extLst>
              <a:ext uri="{FF2B5EF4-FFF2-40B4-BE49-F238E27FC236}">
                <a16:creationId xmlns:a16="http://schemas.microsoft.com/office/drawing/2014/main" id="{DBE34144-C85B-CBC4-4CFA-AAD3FBF1AEA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5825" y="2895600"/>
            <a:ext cx="331142" cy="331142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FB8E5330-7AE9-7712-9A05-F1D28A24567D}"/>
              </a:ext>
            </a:extLst>
          </p:cNvPr>
          <p:cNvSpPr txBox="1"/>
          <p:nvPr/>
        </p:nvSpPr>
        <p:spPr>
          <a:xfrm>
            <a:off x="800100" y="3380051"/>
            <a:ext cx="4953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991B1B"/>
                </a:solidFill>
              </a:rPr>
              <a:t>10-K Report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5BA8C9-0EF4-927F-54A9-1CA76EBB5134}"/>
              </a:ext>
            </a:extLst>
          </p:cNvPr>
          <p:cNvSpPr txBox="1"/>
          <p:nvPr/>
        </p:nvSpPr>
        <p:spPr>
          <a:xfrm>
            <a:off x="2352675" y="1910821"/>
            <a:ext cx="288607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u="none" dirty="0">
                <a:solidFill>
                  <a:srgbClr val="1E293B"/>
                </a:solidFill>
              </a:rPr>
              <a:t>1. Document Intelligence &amp; Ingestion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F6E36D5-9602-8878-7238-3C2A088AB16A}"/>
              </a:ext>
            </a:extLst>
          </p:cNvPr>
          <p:cNvSpPr/>
          <p:nvPr/>
        </p:nvSpPr>
        <p:spPr>
          <a:xfrm>
            <a:off x="2105025" y="1524000"/>
            <a:ext cx="31337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EBC108-5260-E9BE-FBD4-0B65B4CACF95}"/>
              </a:ext>
            </a:extLst>
          </p:cNvPr>
          <p:cNvSpPr txBox="1"/>
          <p:nvPr/>
        </p:nvSpPr>
        <p:spPr>
          <a:xfrm>
            <a:off x="5829300" y="1910821"/>
            <a:ext cx="292417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u="none" dirty="0">
                <a:solidFill>
                  <a:srgbClr val="1E293B"/>
                </a:solidFill>
              </a:rPr>
              <a:t>2. Risk Intelligence Engine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A2322F6-F0F5-7E2C-4244-7E213ED546D1}"/>
              </a:ext>
            </a:extLst>
          </p:cNvPr>
          <p:cNvSpPr/>
          <p:nvPr/>
        </p:nvSpPr>
        <p:spPr>
          <a:xfrm>
            <a:off x="5619750" y="1524000"/>
            <a:ext cx="31337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3" name="Picture 112" descr="image.png">
            <a:extLst>
              <a:ext uri="{FF2B5EF4-FFF2-40B4-BE49-F238E27FC236}">
                <a16:creationId xmlns:a16="http://schemas.microsoft.com/office/drawing/2014/main" id="{7B686DE7-71F9-755C-2065-9383D6F24DE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71922" y="4682454"/>
            <a:ext cx="285750" cy="22860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E96AFAB6-6385-B004-33B6-4F579A3DD836}"/>
              </a:ext>
            </a:extLst>
          </p:cNvPr>
          <p:cNvSpPr txBox="1"/>
          <p:nvPr/>
        </p:nvSpPr>
        <p:spPr>
          <a:xfrm>
            <a:off x="9733872" y="4710999"/>
            <a:ext cx="17255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166534"/>
                </a:solidFill>
              </a:rPr>
              <a:t>User Query &amp; Search UI</a:t>
            </a:r>
          </a:p>
        </p:txBody>
      </p:sp>
      <p:pic>
        <p:nvPicPr>
          <p:cNvPr id="117" name="Picture 116" descr="image.png">
            <a:extLst>
              <a:ext uri="{FF2B5EF4-FFF2-40B4-BE49-F238E27FC236}">
                <a16:creationId xmlns:a16="http://schemas.microsoft.com/office/drawing/2014/main" id="{22EF04E3-F6C2-09AB-BB14-4981F41FC17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63200" y="4933482"/>
            <a:ext cx="271952" cy="271952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75763EF9-55C9-9795-F5A5-5839356090C2}"/>
              </a:ext>
            </a:extLst>
          </p:cNvPr>
          <p:cNvSpPr txBox="1"/>
          <p:nvPr/>
        </p:nvSpPr>
        <p:spPr>
          <a:xfrm>
            <a:off x="9470953" y="5231816"/>
            <a:ext cx="2187647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14532D"/>
                </a:solidFill>
              </a:rPr>
              <a:t>Grounded Risk Answers</a:t>
            </a:r>
            <a:r>
              <a:rPr sz="1300" b="0" i="0" u="none" dirty="0">
                <a:solidFill>
                  <a:srgbClr val="14532D"/>
                </a:solidFill>
              </a:rPr>
              <a:t> Traceable to page citation &amp; source data</a:t>
            </a:r>
          </a:p>
        </p:txBody>
      </p:sp>
      <p:pic>
        <p:nvPicPr>
          <p:cNvPr id="121" name="Picture 120" descr="image.png">
            <a:extLst>
              <a:ext uri="{FF2B5EF4-FFF2-40B4-BE49-F238E27FC236}">
                <a16:creationId xmlns:a16="http://schemas.microsoft.com/office/drawing/2014/main" id="{FB703F35-8940-7F51-FA5D-43139142D17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05025" y="1939411"/>
            <a:ext cx="171450" cy="133350"/>
          </a:xfrm>
          <a:prstGeom prst="rect">
            <a:avLst/>
          </a:prstGeom>
        </p:spPr>
      </p:pic>
      <p:pic>
        <p:nvPicPr>
          <p:cNvPr id="125" name="Picture 124" descr="image.png">
            <a:extLst>
              <a:ext uri="{FF2B5EF4-FFF2-40B4-BE49-F238E27FC236}">
                <a16:creationId xmlns:a16="http://schemas.microsoft.com/office/drawing/2014/main" id="{D24F930C-2BA6-39E9-E357-0E8E00ECBEF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19750" y="1939411"/>
            <a:ext cx="133350" cy="13335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878897CD-1398-9EF8-F91E-601C7B4D1E3C}"/>
              </a:ext>
            </a:extLst>
          </p:cNvPr>
          <p:cNvSpPr txBox="1"/>
          <p:nvPr/>
        </p:nvSpPr>
        <p:spPr>
          <a:xfrm>
            <a:off x="5886450" y="4367033"/>
            <a:ext cx="277177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u="none" dirty="0">
                <a:solidFill>
                  <a:srgbClr val="FFFFFF"/>
                </a:solidFill>
              </a:rPr>
              <a:t>Structured Risk Generation (LLM)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B2852A0-CB44-0FAE-0D29-1A0812A55CC7}"/>
              </a:ext>
            </a:extLst>
          </p:cNvPr>
          <p:cNvSpPr txBox="1"/>
          <p:nvPr/>
        </p:nvSpPr>
        <p:spPr>
          <a:xfrm>
            <a:off x="5705475" y="4709724"/>
            <a:ext cx="2943225" cy="364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26"/>
              </a:lnSpc>
            </a:pPr>
            <a:r>
              <a:rPr sz="1400" b="0" i="0" u="none" dirty="0">
                <a:solidFill>
                  <a:srgbClr val="DDD6FE"/>
                </a:solidFill>
              </a:rPr>
              <a:t>Applies AI reasoning on normalized context to generate schema-bound risk records.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6CE0CBF-F276-52E4-5FE5-AD1856121186}"/>
              </a:ext>
            </a:extLst>
          </p:cNvPr>
          <p:cNvSpPr txBox="1"/>
          <p:nvPr/>
        </p:nvSpPr>
        <p:spPr>
          <a:xfrm>
            <a:off x="2492903" y="2337116"/>
            <a:ext cx="156870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b="0" i="0" u="none" dirty="0">
                <a:solidFill>
                  <a:srgbClr val="334155"/>
                </a:solidFill>
              </a:rPr>
              <a:t>Report Preprocessing</a:t>
            </a:r>
            <a:endParaRPr sz="1300" b="0" i="0" u="none" dirty="0">
              <a:solidFill>
                <a:srgbClr val="334155"/>
              </a:solidFill>
            </a:endParaRPr>
          </a:p>
        </p:txBody>
      </p:sp>
      <p:pic>
        <p:nvPicPr>
          <p:cNvPr id="153" name="Picture 152" descr="image.png">
            <a:extLst>
              <a:ext uri="{FF2B5EF4-FFF2-40B4-BE49-F238E27FC236}">
                <a16:creationId xmlns:a16="http://schemas.microsoft.com/office/drawing/2014/main" id="{767EB3D6-6759-A279-6D6F-8AC155F31D7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95202" y="2346356"/>
            <a:ext cx="138773" cy="190812"/>
          </a:xfrm>
          <a:prstGeom prst="rect">
            <a:avLst/>
          </a:prstGeom>
        </p:spPr>
      </p:pic>
      <p:pic>
        <p:nvPicPr>
          <p:cNvPr id="155" name="Picture 154" descr="image.png">
            <a:extLst>
              <a:ext uri="{FF2B5EF4-FFF2-40B4-BE49-F238E27FC236}">
                <a16:creationId xmlns:a16="http://schemas.microsoft.com/office/drawing/2014/main" id="{470958D2-6EDF-7407-E7F5-7B3057409BB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24262" y="2636286"/>
            <a:ext cx="95250" cy="95250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DEE0EA06-9FCB-579E-BBA1-01DFCAD04663}"/>
              </a:ext>
            </a:extLst>
          </p:cNvPr>
          <p:cNvSpPr txBox="1"/>
          <p:nvPr/>
        </p:nvSpPr>
        <p:spPr>
          <a:xfrm>
            <a:off x="2476346" y="2850394"/>
            <a:ext cx="119062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u="none" dirty="0">
                <a:solidFill>
                  <a:srgbClr val="334155"/>
                </a:solidFill>
              </a:rPr>
              <a:t>Layout </a:t>
            </a:r>
            <a:r>
              <a:rPr lang="en-IN" sz="1300" b="0" i="0" u="none" dirty="0">
                <a:solidFill>
                  <a:srgbClr val="334155"/>
                </a:solidFill>
              </a:rPr>
              <a:t>Detection</a:t>
            </a:r>
            <a:endParaRPr sz="1300" b="0" i="0" u="none" dirty="0">
              <a:solidFill>
                <a:srgbClr val="334155"/>
              </a:solidFill>
            </a:endParaRPr>
          </a:p>
        </p:txBody>
      </p:sp>
      <p:pic>
        <p:nvPicPr>
          <p:cNvPr id="159" name="Picture 158" descr="image.png">
            <a:extLst>
              <a:ext uri="{FF2B5EF4-FFF2-40B4-BE49-F238E27FC236}">
                <a16:creationId xmlns:a16="http://schemas.microsoft.com/office/drawing/2014/main" id="{7928E241-55A5-A9F7-70EE-E79A0F7D76F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48238" y="2860709"/>
            <a:ext cx="185738" cy="185738"/>
          </a:xfrm>
          <a:prstGeom prst="rect">
            <a:avLst/>
          </a:prstGeom>
        </p:spPr>
      </p:pic>
      <p:pic>
        <p:nvPicPr>
          <p:cNvPr id="161" name="Picture 160" descr="image.png">
            <a:extLst>
              <a:ext uri="{FF2B5EF4-FFF2-40B4-BE49-F238E27FC236}">
                <a16:creationId xmlns:a16="http://schemas.microsoft.com/office/drawing/2014/main" id="{16D4929A-36CC-1B72-C7F4-F4CF15131F3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24262" y="3159975"/>
            <a:ext cx="95250" cy="9525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63FA0DCC-A489-9318-61C8-A5DEEFE0CCF1}"/>
              </a:ext>
            </a:extLst>
          </p:cNvPr>
          <p:cNvSpPr txBox="1"/>
          <p:nvPr/>
        </p:nvSpPr>
        <p:spPr>
          <a:xfrm>
            <a:off x="2468839" y="3364744"/>
            <a:ext cx="120967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b="0" i="0" u="none" dirty="0">
                <a:solidFill>
                  <a:srgbClr val="334155"/>
                </a:solidFill>
              </a:rPr>
              <a:t>Data</a:t>
            </a:r>
            <a:r>
              <a:rPr sz="1300" b="0" i="0" u="none" dirty="0">
                <a:solidFill>
                  <a:srgbClr val="334155"/>
                </a:solidFill>
              </a:rPr>
              <a:t> Extraction</a:t>
            </a:r>
          </a:p>
        </p:txBody>
      </p:sp>
      <p:pic>
        <p:nvPicPr>
          <p:cNvPr id="165" name="Picture 164" descr="image.png">
            <a:extLst>
              <a:ext uri="{FF2B5EF4-FFF2-40B4-BE49-F238E27FC236}">
                <a16:creationId xmlns:a16="http://schemas.microsoft.com/office/drawing/2014/main" id="{C731F741-7E69-1836-CF9F-A829FA78B26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60509" y="3375056"/>
            <a:ext cx="173466" cy="190812"/>
          </a:xfrm>
          <a:prstGeom prst="rect">
            <a:avLst/>
          </a:prstGeom>
        </p:spPr>
      </p:pic>
      <p:pic>
        <p:nvPicPr>
          <p:cNvPr id="167" name="Picture 166" descr="image.png">
            <a:extLst>
              <a:ext uri="{FF2B5EF4-FFF2-40B4-BE49-F238E27FC236}">
                <a16:creationId xmlns:a16="http://schemas.microsoft.com/office/drawing/2014/main" id="{0F18969E-53EF-20EB-7157-4F761810220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24262" y="3664986"/>
            <a:ext cx="95250" cy="95250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F0E5E3ED-B252-19C5-FC62-D454C3B8A032}"/>
              </a:ext>
            </a:extLst>
          </p:cNvPr>
          <p:cNvSpPr txBox="1"/>
          <p:nvPr/>
        </p:nvSpPr>
        <p:spPr>
          <a:xfrm>
            <a:off x="2495549" y="3879094"/>
            <a:ext cx="9525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b="0" i="0" u="none" dirty="0">
                <a:solidFill>
                  <a:srgbClr val="334155"/>
                </a:solidFill>
              </a:rPr>
              <a:t>Normalization</a:t>
            </a:r>
            <a:endParaRPr sz="1300" b="0" i="0" u="none" dirty="0">
              <a:solidFill>
                <a:srgbClr val="334155"/>
              </a:solidFill>
            </a:endParaRPr>
          </a:p>
        </p:txBody>
      </p:sp>
      <p:pic>
        <p:nvPicPr>
          <p:cNvPr id="171" name="Picture 170" descr="image.png">
            <a:extLst>
              <a:ext uri="{FF2B5EF4-FFF2-40B4-BE49-F238E27FC236}">
                <a16:creationId xmlns:a16="http://schemas.microsoft.com/office/drawing/2014/main" id="{A8A40F4C-8CC0-7F21-F078-4B8CFA43C79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48238" y="3889409"/>
            <a:ext cx="185738" cy="185738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10E78EFE-99B8-4F09-70DC-57AA9222E676}"/>
              </a:ext>
            </a:extLst>
          </p:cNvPr>
          <p:cNvSpPr txBox="1"/>
          <p:nvPr/>
        </p:nvSpPr>
        <p:spPr>
          <a:xfrm>
            <a:off x="6178956" y="2297804"/>
            <a:ext cx="1862701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u="none" dirty="0">
                <a:solidFill>
                  <a:srgbClr val="334155"/>
                </a:solidFill>
              </a:rPr>
              <a:t>Annual Report Content</a:t>
            </a:r>
          </a:p>
        </p:txBody>
      </p:sp>
      <p:pic>
        <p:nvPicPr>
          <p:cNvPr id="175" name="Picture 174" descr="image.png">
            <a:extLst>
              <a:ext uri="{FF2B5EF4-FFF2-40B4-BE49-F238E27FC236}">
                <a16:creationId xmlns:a16="http://schemas.microsoft.com/office/drawing/2014/main" id="{8EC6A67B-040D-D8A9-EBAC-5A0881AE429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53871" y="2355205"/>
            <a:ext cx="194829" cy="214312"/>
          </a:xfrm>
          <a:prstGeom prst="rect">
            <a:avLst/>
          </a:prstGeom>
        </p:spPr>
      </p:pic>
      <p:pic>
        <p:nvPicPr>
          <p:cNvPr id="177" name="Picture 176" descr="image.png">
            <a:extLst>
              <a:ext uri="{FF2B5EF4-FFF2-40B4-BE49-F238E27FC236}">
                <a16:creationId xmlns:a16="http://schemas.microsoft.com/office/drawing/2014/main" id="{4B29D2F0-6201-FC88-281A-EB316AFD8EF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8987" y="2617142"/>
            <a:ext cx="95250" cy="95250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4F70B912-B40D-41EF-0DAD-0542E6227AD6}"/>
              </a:ext>
            </a:extLst>
          </p:cNvPr>
          <p:cNvSpPr txBox="1"/>
          <p:nvPr/>
        </p:nvSpPr>
        <p:spPr>
          <a:xfrm>
            <a:off x="6192319" y="2821914"/>
            <a:ext cx="1664057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300" b="0" i="0" u="none" dirty="0">
                <a:solidFill>
                  <a:srgbClr val="334155"/>
                </a:solidFill>
              </a:rPr>
              <a:t>Risk Identification</a:t>
            </a:r>
            <a:endParaRPr sz="1300" b="0" i="0" u="none" dirty="0">
              <a:solidFill>
                <a:srgbClr val="334155"/>
              </a:solidFill>
            </a:endParaRPr>
          </a:p>
        </p:txBody>
      </p:sp>
      <p:pic>
        <p:nvPicPr>
          <p:cNvPr id="181" name="Picture 180" descr="image.png">
            <a:extLst>
              <a:ext uri="{FF2B5EF4-FFF2-40B4-BE49-F238E27FC236}">
                <a16:creationId xmlns:a16="http://schemas.microsoft.com/office/drawing/2014/main" id="{C1A0D60F-07E8-5F60-C7F3-CA496F320AC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28023" y="2804238"/>
            <a:ext cx="220677" cy="220677"/>
          </a:xfrm>
          <a:prstGeom prst="rect">
            <a:avLst/>
          </a:prstGeom>
        </p:spPr>
      </p:pic>
      <p:pic>
        <p:nvPicPr>
          <p:cNvPr id="183" name="Picture 182" descr="image.png">
            <a:extLst>
              <a:ext uri="{FF2B5EF4-FFF2-40B4-BE49-F238E27FC236}">
                <a16:creationId xmlns:a16="http://schemas.microsoft.com/office/drawing/2014/main" id="{D4D68C7F-8603-F072-57C7-1933B73CDBE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138987" y="3131492"/>
            <a:ext cx="95250" cy="95250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71E25B65-241B-1F07-CA3A-77ED0903B8E2}"/>
              </a:ext>
            </a:extLst>
          </p:cNvPr>
          <p:cNvSpPr txBox="1"/>
          <p:nvPr/>
        </p:nvSpPr>
        <p:spPr>
          <a:xfrm>
            <a:off x="6167778" y="3336265"/>
            <a:ext cx="1638691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u="none" dirty="0">
                <a:solidFill>
                  <a:srgbClr val="334155"/>
                </a:solidFill>
              </a:rPr>
              <a:t>Context </a:t>
            </a:r>
            <a:r>
              <a:rPr lang="en-IN" sz="1300" b="0" i="0" u="none" dirty="0">
                <a:solidFill>
                  <a:srgbClr val="334155"/>
                </a:solidFill>
              </a:rPr>
              <a:t>Construction</a:t>
            </a:r>
            <a:endParaRPr sz="1300" b="0" i="0" u="none" dirty="0">
              <a:solidFill>
                <a:srgbClr val="334155"/>
              </a:solidFill>
            </a:endParaRPr>
          </a:p>
        </p:txBody>
      </p:sp>
      <p:pic>
        <p:nvPicPr>
          <p:cNvPr id="187" name="Picture 186" descr="image.png">
            <a:extLst>
              <a:ext uri="{FF2B5EF4-FFF2-40B4-BE49-F238E27FC236}">
                <a16:creationId xmlns:a16="http://schemas.microsoft.com/office/drawing/2014/main" id="{66390DC5-DDED-2322-51D4-00EDAEE1143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434389" y="3383905"/>
            <a:ext cx="214312" cy="214312"/>
          </a:xfrm>
          <a:prstGeom prst="rect">
            <a:avLst/>
          </a:prstGeom>
        </p:spPr>
      </p:pic>
      <p:pic>
        <p:nvPicPr>
          <p:cNvPr id="189" name="Picture 188" descr="image.png">
            <a:extLst>
              <a:ext uri="{FF2B5EF4-FFF2-40B4-BE49-F238E27FC236}">
                <a16:creationId xmlns:a16="http://schemas.microsoft.com/office/drawing/2014/main" id="{7293A4E5-A8C4-0822-44DB-BD62BA23BC0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71908" y="4334158"/>
            <a:ext cx="285750" cy="261938"/>
          </a:xfrm>
          <a:prstGeom prst="rect">
            <a:avLst/>
          </a:prstGeom>
        </p:spPr>
      </p:pic>
      <p:pic>
        <p:nvPicPr>
          <p:cNvPr id="191" name="Picture 190" descr="image.png">
            <a:extLst>
              <a:ext uri="{FF2B5EF4-FFF2-40B4-BE49-F238E27FC236}">
                <a16:creationId xmlns:a16="http://schemas.microsoft.com/office/drawing/2014/main" id="{715B7C62-7E29-2891-58A0-A6BC941E5F5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09800" y="2332784"/>
            <a:ext cx="206903" cy="206903"/>
          </a:xfrm>
          <a:prstGeom prst="rect">
            <a:avLst/>
          </a:prstGeom>
        </p:spPr>
      </p:pic>
      <p:pic>
        <p:nvPicPr>
          <p:cNvPr id="193" name="Picture 192" descr="image.png">
            <a:extLst>
              <a:ext uri="{FF2B5EF4-FFF2-40B4-BE49-F238E27FC236}">
                <a16:creationId xmlns:a16="http://schemas.microsoft.com/office/drawing/2014/main" id="{21A93B12-7E1D-875F-318D-62B34C519013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09800" y="2856298"/>
            <a:ext cx="187853" cy="187853"/>
          </a:xfrm>
          <a:prstGeom prst="rect">
            <a:avLst/>
          </a:prstGeom>
        </p:spPr>
      </p:pic>
      <p:pic>
        <p:nvPicPr>
          <p:cNvPr id="195" name="Picture 194" descr="image.png">
            <a:extLst>
              <a:ext uri="{FF2B5EF4-FFF2-40B4-BE49-F238E27FC236}">
                <a16:creationId xmlns:a16="http://schemas.microsoft.com/office/drawing/2014/main" id="{004E9694-E252-834A-D2FF-96E7E27B2A3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228850" y="3379046"/>
            <a:ext cx="171450" cy="171450"/>
          </a:xfrm>
          <a:prstGeom prst="rect">
            <a:avLst/>
          </a:prstGeom>
        </p:spPr>
      </p:pic>
      <p:pic>
        <p:nvPicPr>
          <p:cNvPr id="197" name="Picture 196" descr="image.png">
            <a:extLst>
              <a:ext uri="{FF2B5EF4-FFF2-40B4-BE49-F238E27FC236}">
                <a16:creationId xmlns:a16="http://schemas.microsoft.com/office/drawing/2014/main" id="{9A02FD86-BB3C-186D-9217-D3026D8A1EE5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228850" y="3902725"/>
            <a:ext cx="171450" cy="171450"/>
          </a:xfrm>
          <a:prstGeom prst="rect">
            <a:avLst/>
          </a:prstGeom>
        </p:spPr>
      </p:pic>
      <p:pic>
        <p:nvPicPr>
          <p:cNvPr id="199" name="Picture 198" descr="image.png">
            <a:extLst>
              <a:ext uri="{FF2B5EF4-FFF2-40B4-BE49-F238E27FC236}">
                <a16:creationId xmlns:a16="http://schemas.microsoft.com/office/drawing/2014/main" id="{7180F848-B301-6E2E-3748-732D53B970E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43575" y="2275212"/>
            <a:ext cx="246920" cy="246920"/>
          </a:xfrm>
          <a:prstGeom prst="rect">
            <a:avLst/>
          </a:prstGeom>
        </p:spPr>
      </p:pic>
      <p:pic>
        <p:nvPicPr>
          <p:cNvPr id="201" name="Picture 200" descr="image.png">
            <a:extLst>
              <a:ext uri="{FF2B5EF4-FFF2-40B4-BE49-F238E27FC236}">
                <a16:creationId xmlns:a16="http://schemas.microsoft.com/office/drawing/2014/main" id="{B326BA43-C9A4-E34B-96D3-D2B68D0F00B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743574" y="2817554"/>
            <a:ext cx="254015" cy="254015"/>
          </a:xfrm>
          <a:prstGeom prst="rect">
            <a:avLst/>
          </a:prstGeom>
        </p:spPr>
      </p:pic>
      <p:pic>
        <p:nvPicPr>
          <p:cNvPr id="203" name="Picture 202" descr="image.png">
            <a:extLst>
              <a:ext uri="{FF2B5EF4-FFF2-40B4-BE49-F238E27FC236}">
                <a16:creationId xmlns:a16="http://schemas.microsoft.com/office/drawing/2014/main" id="{3E487F2A-E54C-2CE8-5FD3-B170957C415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43575" y="3303912"/>
            <a:ext cx="246920" cy="246920"/>
          </a:xfrm>
          <a:prstGeom prst="rect">
            <a:avLst/>
          </a:prstGeom>
        </p:spPr>
      </p:pic>
      <p:pic>
        <p:nvPicPr>
          <p:cNvPr id="205" name="Picture 204" descr="image.png">
            <a:extLst>
              <a:ext uri="{FF2B5EF4-FFF2-40B4-BE49-F238E27FC236}">
                <a16:creationId xmlns:a16="http://schemas.microsoft.com/office/drawing/2014/main" id="{E34E76B5-3E38-1ECE-4114-1040EA078E0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71625" y="3433762"/>
            <a:ext cx="209550" cy="209550"/>
          </a:xfrm>
          <a:prstGeom prst="rect">
            <a:avLst/>
          </a:prstGeom>
        </p:spPr>
      </p:pic>
      <p:pic>
        <p:nvPicPr>
          <p:cNvPr id="207" name="Picture 206" descr="image.png">
            <a:extLst>
              <a:ext uri="{FF2B5EF4-FFF2-40B4-BE49-F238E27FC236}">
                <a16:creationId xmlns:a16="http://schemas.microsoft.com/office/drawing/2014/main" id="{C017157F-0140-F244-4788-AB95354F450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915400" y="3433762"/>
            <a:ext cx="209550" cy="209550"/>
          </a:xfrm>
          <a:prstGeom prst="rect">
            <a:avLst/>
          </a:prstGeom>
        </p:spPr>
      </p:pic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1401F04-3AC3-8F87-AB28-CF64A8034C87}"/>
              </a:ext>
            </a:extLst>
          </p:cNvPr>
          <p:cNvSpPr/>
          <p:nvPr/>
        </p:nvSpPr>
        <p:spPr>
          <a:xfrm>
            <a:off x="2154514" y="5311303"/>
            <a:ext cx="3048000" cy="5206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Annual Report Content</a:t>
            </a:r>
          </a:p>
        </p:txBody>
      </p:sp>
      <p:pic>
        <p:nvPicPr>
          <p:cNvPr id="210" name="Picture 209" descr="image.png">
            <a:extLst>
              <a:ext uri="{FF2B5EF4-FFF2-40B4-BE49-F238E27FC236}">
                <a16:creationId xmlns:a16="http://schemas.microsoft.com/office/drawing/2014/main" id="{D34B7296-8E49-C864-B621-D226D1C4F6B6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318772" y="5490564"/>
            <a:ext cx="195861" cy="195861"/>
          </a:xfrm>
          <a:prstGeom prst="rect">
            <a:avLst/>
          </a:prstGeom>
        </p:spPr>
      </p:pic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FD127E98-CCA4-370B-6C16-EDCD314F4C78}"/>
              </a:ext>
            </a:extLst>
          </p:cNvPr>
          <p:cNvSpPr/>
          <p:nvPr/>
        </p:nvSpPr>
        <p:spPr>
          <a:xfrm>
            <a:off x="5653087" y="5311303"/>
            <a:ext cx="3048000" cy="505123"/>
          </a:xfrm>
          <a:prstGeom prst="roundRect">
            <a:avLst/>
          </a:prstGeom>
          <a:solidFill>
            <a:srgbClr val="D0BB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7030A0"/>
                </a:solidFill>
              </a:rPr>
              <a:t>Structured Risk Output</a:t>
            </a:r>
          </a:p>
        </p:txBody>
      </p:sp>
      <p:pic>
        <p:nvPicPr>
          <p:cNvPr id="214" name="Picture 213">
            <a:extLst>
              <a:ext uri="{FF2B5EF4-FFF2-40B4-BE49-F238E27FC236}">
                <a16:creationId xmlns:a16="http://schemas.microsoft.com/office/drawing/2014/main" id="{26F6B896-78C8-10F4-DC3D-E85D398F7D5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65882" y="5420575"/>
            <a:ext cx="224613" cy="308843"/>
          </a:xfrm>
          <a:prstGeom prst="rect">
            <a:avLst/>
          </a:prstGeom>
        </p:spPr>
      </p:pic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D49F05FA-9C7D-BDD8-F264-E400A89E25F0}"/>
              </a:ext>
            </a:extLst>
          </p:cNvPr>
          <p:cNvSpPr/>
          <p:nvPr/>
        </p:nvSpPr>
        <p:spPr>
          <a:xfrm>
            <a:off x="381000" y="2306537"/>
            <a:ext cx="1228725" cy="32374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Input Data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AD381E26-CEFD-FFD2-E30F-D9E5B2185921}"/>
              </a:ext>
            </a:extLst>
          </p:cNvPr>
          <p:cNvSpPr/>
          <p:nvPr/>
        </p:nvSpPr>
        <p:spPr>
          <a:xfrm>
            <a:off x="9305926" y="1649020"/>
            <a:ext cx="2379648" cy="2136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8117A17-8553-4F9C-C2CC-5C3637900877}"/>
              </a:ext>
            </a:extLst>
          </p:cNvPr>
          <p:cNvSpPr txBox="1"/>
          <p:nvPr/>
        </p:nvSpPr>
        <p:spPr>
          <a:xfrm>
            <a:off x="9296400" y="1831492"/>
            <a:ext cx="24195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/>
              <a:t>         Structured Risk DB</a:t>
            </a:r>
          </a:p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Persistent Storage &amp; Schema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A81E23F8-247F-222A-71B2-0E80DF24B644}"/>
              </a:ext>
            </a:extLst>
          </p:cNvPr>
          <p:cNvSpPr/>
          <p:nvPr/>
        </p:nvSpPr>
        <p:spPr>
          <a:xfrm>
            <a:off x="9385927" y="2407593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Risk Name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29188A07-E6DA-67E1-A182-593EF2E8D767}"/>
              </a:ext>
            </a:extLst>
          </p:cNvPr>
          <p:cNvSpPr/>
          <p:nvPr/>
        </p:nvSpPr>
        <p:spPr>
          <a:xfrm>
            <a:off x="10505104" y="2397831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Category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D8812B56-6792-88AD-E37A-D0F63F6A5B20}"/>
              </a:ext>
            </a:extLst>
          </p:cNvPr>
          <p:cNvSpPr/>
          <p:nvPr/>
        </p:nvSpPr>
        <p:spPr>
          <a:xfrm>
            <a:off x="9395452" y="2860475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Description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695F7B99-F45C-6AD6-59DF-B09993C066CE}"/>
              </a:ext>
            </a:extLst>
          </p:cNvPr>
          <p:cNvSpPr/>
          <p:nvPr/>
        </p:nvSpPr>
        <p:spPr>
          <a:xfrm>
            <a:off x="10510034" y="2862223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Context</a:t>
            </a: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82AEEA25-C955-6FBA-F7FB-022E67B7F858}"/>
              </a:ext>
            </a:extLst>
          </p:cNvPr>
          <p:cNvSpPr/>
          <p:nvPr/>
        </p:nvSpPr>
        <p:spPr>
          <a:xfrm>
            <a:off x="9402155" y="3272092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Citation</a:t>
            </a:r>
          </a:p>
        </p:txBody>
      </p:sp>
      <p:sp>
        <p:nvSpPr>
          <p:cNvPr id="247" name="Rectangle: Rounded Corners 246">
            <a:extLst>
              <a:ext uri="{FF2B5EF4-FFF2-40B4-BE49-F238E27FC236}">
                <a16:creationId xmlns:a16="http://schemas.microsoft.com/office/drawing/2014/main" id="{7868A447-A1B9-4037-CE2E-B762CEE72F4F}"/>
              </a:ext>
            </a:extLst>
          </p:cNvPr>
          <p:cNvSpPr/>
          <p:nvPr/>
        </p:nvSpPr>
        <p:spPr>
          <a:xfrm>
            <a:off x="10515600" y="3283366"/>
            <a:ext cx="1007011" cy="3048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>
                <a:solidFill>
                  <a:schemeClr val="tx1"/>
                </a:solidFill>
              </a:rPr>
              <a:t>Mitigation</a:t>
            </a: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AC7E3440-B1E3-6166-E709-FBD97DE221D4}"/>
              </a:ext>
            </a:extLst>
          </p:cNvPr>
          <p:cNvCxnSpPr>
            <a:cxnSpLocks/>
          </p:cNvCxnSpPr>
          <p:nvPr/>
        </p:nvCxnSpPr>
        <p:spPr>
          <a:xfrm>
            <a:off x="10490523" y="3985235"/>
            <a:ext cx="0" cy="4935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16BB2BF1-CEF8-71A7-28EC-E6B49B08C27B}"/>
              </a:ext>
            </a:extLst>
          </p:cNvPr>
          <p:cNvCxnSpPr>
            <a:cxnSpLocks/>
          </p:cNvCxnSpPr>
          <p:nvPr/>
        </p:nvCxnSpPr>
        <p:spPr>
          <a:xfrm>
            <a:off x="7041306" y="3738453"/>
            <a:ext cx="0" cy="4935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27A2FB0C-AB6B-6892-E4FF-08915C442F8E}"/>
              </a:ext>
            </a:extLst>
          </p:cNvPr>
          <p:cNvSpPr/>
          <p:nvPr/>
        </p:nvSpPr>
        <p:spPr>
          <a:xfrm>
            <a:off x="3462458" y="1178512"/>
            <a:ext cx="4381258" cy="3633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 dirty="0">
                <a:solidFill>
                  <a:schemeClr val="accent1">
                    <a:lumMod val="50000"/>
                  </a:schemeClr>
                </a:solidFill>
              </a:rPr>
              <a:t>Deterministic Parsing + LLM Reasoning Generation</a:t>
            </a:r>
          </a:p>
        </p:txBody>
      </p:sp>
      <p:pic>
        <p:nvPicPr>
          <p:cNvPr id="257" name="Picture 256">
            <a:extLst>
              <a:ext uri="{FF2B5EF4-FFF2-40B4-BE49-F238E27FC236}">
                <a16:creationId xmlns:a16="http://schemas.microsoft.com/office/drawing/2014/main" id="{2F2B2B4C-42DB-0037-EA31-A3E776C4AB8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588627" y="-1062"/>
            <a:ext cx="2600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4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A571D6-72D8-A0DD-F9A6-1264D672B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051287"/>
              </p:ext>
            </p:extLst>
          </p:nvPr>
        </p:nvGraphicFramePr>
        <p:xfrm>
          <a:off x="209550" y="565993"/>
          <a:ext cx="11563348" cy="620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361">
                  <a:extLst>
                    <a:ext uri="{9D8B030D-6E8A-4147-A177-3AD203B41FA5}">
                      <a16:colId xmlns:a16="http://schemas.microsoft.com/office/drawing/2014/main" val="2545755015"/>
                    </a:ext>
                  </a:extLst>
                </a:gridCol>
                <a:gridCol w="3121967">
                  <a:extLst>
                    <a:ext uri="{9D8B030D-6E8A-4147-A177-3AD203B41FA5}">
                      <a16:colId xmlns:a16="http://schemas.microsoft.com/office/drawing/2014/main" val="3121527614"/>
                    </a:ext>
                  </a:extLst>
                </a:gridCol>
                <a:gridCol w="2659558">
                  <a:extLst>
                    <a:ext uri="{9D8B030D-6E8A-4147-A177-3AD203B41FA5}">
                      <a16:colId xmlns:a16="http://schemas.microsoft.com/office/drawing/2014/main" val="3614079036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1486424996"/>
                    </a:ext>
                  </a:extLst>
                </a:gridCol>
              </a:tblGrid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Engineering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u="none" dirty="0">
                          <a:solidFill>
                            <a:srgbClr val="F8FAFC"/>
                          </a:solidFill>
                          <a:latin typeface="Plus Jakarta Sans"/>
                        </a:rPr>
                        <a:t>What We Evaluated / Considered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Final Choice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Why This Choice (Rationale &amp; Impact)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002163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PDF Intake &amp; Validation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Extension check, MIME/signature validation, corrupt/encrypted PDF handling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Validated PDF intake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Fail early before expensive processing; PDF-only scope aligned with </a:t>
                      </a:r>
                      <a:r>
                        <a:rPr lang="en-IN"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proof of concept.</a:t>
                      </a:r>
                      <a:endParaRPr sz="1300" b="0" i="0" u="none" dirty="0">
                        <a:solidFill>
                          <a:srgbClr val="334155"/>
                        </a:solidFill>
                        <a:latin typeface="Inter Medium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8694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Document Identity &amp; Deduplication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Filename, metadata identity, content hashing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Content-based hash </a:t>
                      </a:r>
                      <a:r>
                        <a:rPr lang="en-IN"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identity</a:t>
                      </a:r>
                      <a:endParaRPr sz="1300" b="0" i="0" u="none" dirty="0">
                        <a:solidFill>
                          <a:srgbClr val="C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Filename is not a reliable identity; deterministic duplicate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341485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PDF Parsing</a:t>
                      </a:r>
                    </a:p>
                  </a:txBody>
                  <a:tcPr marL="2000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PyMuPDF, pdfplumber, Docling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 err="1">
                          <a:solidFill>
                            <a:srgbClr val="C00000"/>
                          </a:solidFill>
                          <a:latin typeface="Inter"/>
                        </a:rPr>
                        <a:t>Docling</a:t>
                      </a:r>
                      <a:endParaRPr sz="1300" b="0" i="0" u="none" dirty="0">
                        <a:solidFill>
                          <a:srgbClr val="C00000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Better fit for mixed-layout annual reports containing text, tables and layout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707214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Page &amp; Content Representation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Plain document text vs page-wise extraction vs structured representation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Page-aware structured extraction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Preserve page provenance required for risk traceability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096541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Text Normalisation</a:t>
                      </a:r>
                    </a:p>
                  </a:txBody>
                  <a:tcPr marL="2476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Raw extracted text vs aggressive cleaning vs minimal normalization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Minimal / basic normalization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Clean extraction artifacts without destroying source meaning or evidence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538879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Extraction Quality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Assume parser success vs explicit page-level checks/warnings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Quality checks + warnings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Parser failures should be observable instead of silently propagating downstream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054269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Intermediate Contract</a:t>
                      </a:r>
                    </a:p>
                  </a:txBody>
                  <a:tcPr marL="2000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Markdown/text passed directly downstream vs canonical 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Canonical Document 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Decouples document parsing from risk intelligence and creates a stable interface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039098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Risk Context Selection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Entire ~190-page report vs fixed pages vs risk-relevant content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Risk-focused context construction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Reduce irrelevant context and model noise while preserving relevant evidence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500198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Risk Extraction Strategy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Rules/regex, single LLM call, structured LLM extraction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LLM + structured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Risk interpretation is semantic, while schema constrains downstream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93259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LLM Model Selection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Tested models across proprietary &amp; open weights </a:t>
                      </a:r>
                      <a:r>
                        <a:rPr lang="en-IN"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(gemma 4-26b, </a:t>
                      </a:r>
                      <a:r>
                        <a:rPr lang="en-IN" sz="130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gpt-oss</a:t>
                      </a:r>
                      <a:r>
                        <a:rPr lang="en-IN"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)</a:t>
                      </a:r>
                      <a:endParaRPr sz="13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Structured Output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Selected based on structured schema strictness, accuracy, context window &amp;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646409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Output Validation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Free-form JSON vs schema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 err="1">
                          <a:solidFill>
                            <a:srgbClr val="C00000"/>
                          </a:solidFill>
                          <a:latin typeface="Inter"/>
                        </a:rPr>
                        <a:t>Pydantic</a:t>
                      </a:r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Enforce title, description, category, source/page, mitigation &amp; catch malformed generations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841056"/>
                  </a:ext>
                </a:extLst>
              </a:tr>
              <a:tr h="394904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Risk Persistence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"/>
                        </a:rPr>
                        <a:t>Flat JSON/file output vs relational/document representation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Risk DB / structured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>
                          <a:solidFill>
                            <a:srgbClr val="334155"/>
                          </a:solidFill>
                          <a:latin typeface="Inter Medium"/>
                        </a:rPr>
                        <a:t>Enables risks to become independently searchable/queryable entities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345802"/>
                  </a:ext>
                </a:extLst>
              </a:tr>
              <a:tr h="394915">
                <a:tc>
                  <a:txBody>
                    <a:bodyPr/>
                    <a:lstStyle/>
                    <a:p>
                      <a:pPr algn="l"/>
                      <a:r>
                        <a:rPr sz="1300" b="1" i="0" u="none">
                          <a:solidFill>
                            <a:srgbClr val="334155"/>
                          </a:solidFill>
                          <a:latin typeface="Inter"/>
                        </a:rPr>
                        <a:t>Evaluation Framework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Manual inspection only vs golden set + deterministic/LLM evaluator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C00000"/>
                          </a:solidFill>
                          <a:latin typeface="Inter"/>
                        </a:rPr>
                        <a:t>Golden set + evaluator(s)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u="none" dirty="0">
                          <a:solidFill>
                            <a:srgbClr val="334155"/>
                          </a:solidFill>
                          <a:latin typeface="Inter Medium"/>
                        </a:rPr>
                        <a:t>Detect regressions caused by parser/model/prompt changes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22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22E0645-7967-C5AF-669E-C148F7F781FE}"/>
              </a:ext>
            </a:extLst>
          </p:cNvPr>
          <p:cNvSpPr txBox="1"/>
          <p:nvPr/>
        </p:nvSpPr>
        <p:spPr>
          <a:xfrm>
            <a:off x="490835" y="180975"/>
            <a:ext cx="6045443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 ExtraBold"/>
              </a:rPr>
              <a:t>Engineering Stage &amp; Design Choice Matrix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F1798201-6FBD-2263-083B-F2B52FA87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228600"/>
            <a:ext cx="186035" cy="19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54685-0C1A-1A54-E1EF-AC3DEF1F8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627" y="-1062"/>
            <a:ext cx="2600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47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46AD5925-BA5F-8C6B-2AF3-1FB779EF3B31}"/>
              </a:ext>
            </a:extLst>
          </p:cNvPr>
          <p:cNvSpPr/>
          <p:nvPr/>
        </p:nvSpPr>
        <p:spPr>
          <a:xfrm>
            <a:off x="457200" y="23774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Strategy — Ground Truth to Measured Performance</a:t>
            </a:r>
            <a:endParaRPr lang="en-US" sz="25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E13B6A6-3CBC-9F98-A816-3BC528CD4F7C}"/>
              </a:ext>
            </a:extLst>
          </p:cNvPr>
          <p:cNvSpPr/>
          <p:nvPr/>
        </p:nvSpPr>
        <p:spPr>
          <a:xfrm>
            <a:off x="457200" y="7498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GENERATION</a:t>
            </a:r>
            <a:endParaRPr lang="en-US" sz="15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5F827495-1DB8-D2F5-EA0E-2CD50C7D6F1B}"/>
              </a:ext>
            </a:extLst>
          </p:cNvPr>
          <p:cNvSpPr/>
          <p:nvPr/>
        </p:nvSpPr>
        <p:spPr>
          <a:xfrm>
            <a:off x="457200" y="960120"/>
            <a:ext cx="2647188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CF903E0-ACD8-63EC-8642-95AFEA7AE388}"/>
              </a:ext>
            </a:extLst>
          </p:cNvPr>
          <p:cNvSpPr/>
          <p:nvPr/>
        </p:nvSpPr>
        <p:spPr>
          <a:xfrm>
            <a:off x="530352" y="960120"/>
            <a:ext cx="2500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Vestas Annual Report 2025</a:t>
            </a:r>
            <a:endParaRPr lang="en-US" sz="13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1B2257C6-EA06-2700-6519-2A0648BE70EF}"/>
              </a:ext>
            </a:extLst>
          </p:cNvPr>
          <p:cNvSpPr/>
          <p:nvPr/>
        </p:nvSpPr>
        <p:spPr>
          <a:xfrm>
            <a:off x="3131820" y="1078992"/>
            <a:ext cx="173736" cy="128016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C7D4A86-9622-7969-D8AD-592A2648E35F}"/>
              </a:ext>
            </a:extLst>
          </p:cNvPr>
          <p:cNvSpPr/>
          <p:nvPr/>
        </p:nvSpPr>
        <p:spPr>
          <a:xfrm>
            <a:off x="3332988" y="960120"/>
            <a:ext cx="2647188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67224BB-618A-D424-3E5E-D555C3AE5C3E}"/>
              </a:ext>
            </a:extLst>
          </p:cNvPr>
          <p:cNvSpPr/>
          <p:nvPr/>
        </p:nvSpPr>
        <p:spPr>
          <a:xfrm>
            <a:off x="3406140" y="960120"/>
            <a:ext cx="2500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3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CFCE7E4-48BD-C408-694F-F07E366E8691}"/>
              </a:ext>
            </a:extLst>
          </p:cNvPr>
          <p:cNvSpPr/>
          <p:nvPr/>
        </p:nvSpPr>
        <p:spPr>
          <a:xfrm>
            <a:off x="6007608" y="1078992"/>
            <a:ext cx="173736" cy="128016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33E00910-A5A0-B560-32D0-3C9670576D71}"/>
              </a:ext>
            </a:extLst>
          </p:cNvPr>
          <p:cNvSpPr/>
          <p:nvPr/>
        </p:nvSpPr>
        <p:spPr>
          <a:xfrm>
            <a:off x="6208776" y="960120"/>
            <a:ext cx="264718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AEA234C-9EE6-F334-626C-9AB5DD174DC6}"/>
              </a:ext>
            </a:extLst>
          </p:cNvPr>
          <p:cNvSpPr/>
          <p:nvPr/>
        </p:nvSpPr>
        <p:spPr>
          <a:xfrm>
            <a:off x="6281928" y="960120"/>
            <a:ext cx="2500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 Golden Set</a:t>
            </a:r>
            <a:endParaRPr lang="en-US" sz="13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D051CDB9-878C-5E07-C88E-632F161428DA}"/>
              </a:ext>
            </a:extLst>
          </p:cNvPr>
          <p:cNvSpPr/>
          <p:nvPr/>
        </p:nvSpPr>
        <p:spPr>
          <a:xfrm>
            <a:off x="8883396" y="1078992"/>
            <a:ext cx="173736" cy="128016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59474E5-B93E-0BC9-5051-7820425B57CD}"/>
              </a:ext>
            </a:extLst>
          </p:cNvPr>
          <p:cNvSpPr/>
          <p:nvPr/>
        </p:nvSpPr>
        <p:spPr>
          <a:xfrm>
            <a:off x="9084564" y="960120"/>
            <a:ext cx="2647188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7CB29669-71A0-6B37-2A54-7190BF29CE85}"/>
              </a:ext>
            </a:extLst>
          </p:cNvPr>
          <p:cNvSpPr/>
          <p:nvPr/>
        </p:nvSpPr>
        <p:spPr>
          <a:xfrm>
            <a:off x="9157716" y="960120"/>
            <a:ext cx="25008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 vs. Ground Truth</a:t>
            </a:r>
            <a:endParaRPr lang="en-US" sz="13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4C0ABFE-0275-8C4A-F492-DC4F6FBC79A7}"/>
              </a:ext>
            </a:extLst>
          </p:cNvPr>
          <p:cNvSpPr/>
          <p:nvPr/>
        </p:nvSpPr>
        <p:spPr>
          <a:xfrm>
            <a:off x="457200" y="138074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was created independently from expected source content — not generated from model output.</a:t>
            </a:r>
            <a:endParaRPr lang="en-US" sz="15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4DB6A3BC-CD5A-C04A-8852-884CA2008055}"/>
              </a:ext>
            </a:extLst>
          </p:cNvPr>
          <p:cNvSpPr/>
          <p:nvPr/>
        </p:nvSpPr>
        <p:spPr>
          <a:xfrm>
            <a:off x="457200" y="1810512"/>
            <a:ext cx="5500116" cy="3721608"/>
          </a:xfrm>
          <a:prstGeom prst="roundRect">
            <a:avLst>
              <a:gd name="adj" fmla="val 1966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0A99CB45-4A4A-AD46-B023-D392E996BC9B}"/>
              </a:ext>
            </a:extLst>
          </p:cNvPr>
          <p:cNvSpPr/>
          <p:nvPr/>
        </p:nvSpPr>
        <p:spPr>
          <a:xfrm>
            <a:off x="457200" y="1810512"/>
            <a:ext cx="5500116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54DF12F4-F338-FC6D-21E2-C0321F1A7547}"/>
              </a:ext>
            </a:extLst>
          </p:cNvPr>
          <p:cNvSpPr/>
          <p:nvPr/>
        </p:nvSpPr>
        <p:spPr>
          <a:xfrm>
            <a:off x="457200" y="2286000"/>
            <a:ext cx="5500116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5D9631AD-5C6F-987A-7B61-5593F3A94FAF}"/>
              </a:ext>
            </a:extLst>
          </p:cNvPr>
          <p:cNvSpPr/>
          <p:nvPr/>
        </p:nvSpPr>
        <p:spPr>
          <a:xfrm>
            <a:off x="685800" y="1883664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&amp; INGESTION</a:t>
            </a:r>
            <a:endParaRPr lang="en-US" sz="150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00A972BD-9093-7617-1828-AC5FE06B8706}"/>
              </a:ext>
            </a:extLst>
          </p:cNvPr>
          <p:cNvSpPr/>
          <p:nvPr/>
        </p:nvSpPr>
        <p:spPr>
          <a:xfrm>
            <a:off x="685800" y="2148840"/>
            <a:ext cx="5042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parser faithfully reconstruct important document content?</a:t>
            </a:r>
            <a:endParaRPr lang="en-US" sz="130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0B7D0941-3CFC-93C1-89FD-B4CE9465A740}"/>
              </a:ext>
            </a:extLst>
          </p:cNvPr>
          <p:cNvSpPr/>
          <p:nvPr/>
        </p:nvSpPr>
        <p:spPr>
          <a:xfrm>
            <a:off x="6231636" y="1810512"/>
            <a:ext cx="5500116" cy="3721608"/>
          </a:xfrm>
          <a:prstGeom prst="roundRect">
            <a:avLst>
              <a:gd name="adj" fmla="val 1966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F44915DA-80FD-2A0C-E41E-EA226CBA84BC}"/>
              </a:ext>
            </a:extLst>
          </p:cNvPr>
          <p:cNvSpPr/>
          <p:nvPr/>
        </p:nvSpPr>
        <p:spPr>
          <a:xfrm>
            <a:off x="6231636" y="1810512"/>
            <a:ext cx="5500116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EED8397-F5BD-C4B8-C8F7-4C313B6FDCC9}"/>
              </a:ext>
            </a:extLst>
          </p:cNvPr>
          <p:cNvSpPr/>
          <p:nvPr/>
        </p:nvSpPr>
        <p:spPr>
          <a:xfrm>
            <a:off x="6231636" y="2286000"/>
            <a:ext cx="5500116" cy="12801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A86DDCD2-5FF3-59DC-871B-550D6F393F8A}"/>
              </a:ext>
            </a:extLst>
          </p:cNvPr>
          <p:cNvSpPr/>
          <p:nvPr/>
        </p:nvSpPr>
        <p:spPr>
          <a:xfrm>
            <a:off x="6460236" y="1883664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5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86A2011A-EE24-295F-2E1E-B8856BC9CFAB}"/>
              </a:ext>
            </a:extLst>
          </p:cNvPr>
          <p:cNvSpPr/>
          <p:nvPr/>
        </p:nvSpPr>
        <p:spPr>
          <a:xfrm>
            <a:off x="6460236" y="2148840"/>
            <a:ext cx="5042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system identify the correct risks and structured attributes?</a:t>
            </a:r>
            <a:endParaRPr lang="en-US" sz="13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F331EA3-DBA0-F3C3-9E62-EFAA5343419B}"/>
              </a:ext>
            </a:extLst>
          </p:cNvPr>
          <p:cNvSpPr/>
          <p:nvPr/>
        </p:nvSpPr>
        <p:spPr>
          <a:xfrm>
            <a:off x="457200" y="2523744"/>
            <a:ext cx="55001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97.16%</a:t>
            </a:r>
            <a:endParaRPr lang="en-US" sz="400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47205EA0-14D9-4D97-7058-DA79BDFE7AEB}"/>
              </a:ext>
            </a:extLst>
          </p:cNvPr>
          <p:cNvSpPr/>
          <p:nvPr/>
        </p:nvSpPr>
        <p:spPr>
          <a:xfrm>
            <a:off x="457200" y="3072384"/>
            <a:ext cx="5500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extraction score — 11 representative pages</a:t>
            </a:r>
            <a:endParaRPr lang="en-US" sz="13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EBD612CA-D11C-8431-296D-5FE96C3E7335}"/>
              </a:ext>
            </a:extLst>
          </p:cNvPr>
          <p:cNvSpPr/>
          <p:nvPr/>
        </p:nvSpPr>
        <p:spPr>
          <a:xfrm>
            <a:off x="685800" y="3290344"/>
            <a:ext cx="50429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set: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curated pages (3, 7, 8, 9, 10, 13, 38, 50, 51, 68, 71) spanning narrative text, headings, financial/sustainability tables, risk tables &amp; infographics.</a:t>
            </a:r>
            <a:endParaRPr lang="en-US" sz="13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86BBDC0B-06BD-4D30-DFFE-E8FEB90DF825}"/>
              </a:ext>
            </a:extLst>
          </p:cNvPr>
          <p:cNvSpPr/>
          <p:nvPr/>
        </p:nvSpPr>
        <p:spPr>
          <a:xfrm>
            <a:off x="685800" y="3986784"/>
            <a:ext cx="5042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Recall · Text Fragment Recall · Table Accuracy · Provenance Coverage</a:t>
            </a:r>
            <a:endParaRPr lang="en-US" sz="1300" dirty="0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C8298912-5FE8-D9E7-290B-679B9812D39E}"/>
              </a:ext>
            </a:extLst>
          </p:cNvPr>
          <p:cNvSpPr/>
          <p:nvPr/>
        </p:nvSpPr>
        <p:spPr>
          <a:xfrm>
            <a:off x="685800" y="4334256"/>
            <a:ext cx="5042916" cy="1115568"/>
          </a:xfrm>
          <a:prstGeom prst="roundRect">
            <a:avLst>
              <a:gd name="adj" fmla="val 5310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AA065786-1C7A-56E9-D7B6-3818D12A861B}"/>
              </a:ext>
            </a:extLst>
          </p:cNvPr>
          <p:cNvSpPr/>
          <p:nvPr/>
        </p:nvSpPr>
        <p:spPr>
          <a:xfrm>
            <a:off x="822960" y="4342091"/>
            <a:ext cx="47685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exceptions
</a:t>
            </a: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→ 93.75%: correct 3×4 table structure, but generic column headers (0,1,2,3) instead of semantic labels.
Page 38 → 75%: full-page map infographic — heading missed; visual-map content is a known limitation.</a:t>
            </a:r>
            <a:endParaRPr lang="en-US" sz="1300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36A17D69-64E5-11B3-0F30-D3E8606B2CC6}"/>
              </a:ext>
            </a:extLst>
          </p:cNvPr>
          <p:cNvSpPr/>
          <p:nvPr/>
        </p:nvSpPr>
        <p:spPr>
          <a:xfrm>
            <a:off x="6460236" y="2523744"/>
            <a:ext cx="1680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700" dirty="0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D2CD307-3584-EF34-0065-2C2C17059E9A}"/>
              </a:ext>
            </a:extLst>
          </p:cNvPr>
          <p:cNvSpPr/>
          <p:nvPr/>
        </p:nvSpPr>
        <p:spPr>
          <a:xfrm>
            <a:off x="6460236" y="2962656"/>
            <a:ext cx="1680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85B1D686-7C8D-6B77-9BA2-FBF28C76D47B}"/>
              </a:ext>
            </a:extLst>
          </p:cNvPr>
          <p:cNvSpPr/>
          <p:nvPr/>
        </p:nvSpPr>
        <p:spPr>
          <a:xfrm>
            <a:off x="8141208" y="2523744"/>
            <a:ext cx="1680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700" dirty="0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D0C28CC4-F690-C9B1-B657-1BD7D92EB0D2}"/>
              </a:ext>
            </a:extLst>
          </p:cNvPr>
          <p:cNvSpPr/>
          <p:nvPr/>
        </p:nvSpPr>
        <p:spPr>
          <a:xfrm>
            <a:off x="8141208" y="2962656"/>
            <a:ext cx="1680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AD90B322-C0A0-08B2-5A51-B30566CDAFCB}"/>
              </a:ext>
            </a:extLst>
          </p:cNvPr>
          <p:cNvSpPr/>
          <p:nvPr/>
        </p:nvSpPr>
        <p:spPr>
          <a:xfrm>
            <a:off x="9822180" y="2523744"/>
            <a:ext cx="1680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700" dirty="0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49C5A4A7-B174-3A6C-3A35-266038EBDA64}"/>
              </a:ext>
            </a:extLst>
          </p:cNvPr>
          <p:cNvSpPr/>
          <p:nvPr/>
        </p:nvSpPr>
        <p:spPr>
          <a:xfrm>
            <a:off x="9822180" y="2962656"/>
            <a:ext cx="1680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7D528D25-BF98-D658-4BD4-74D34F56A5E7}"/>
              </a:ext>
            </a:extLst>
          </p:cNvPr>
          <p:cNvSpPr/>
          <p:nvPr/>
        </p:nvSpPr>
        <p:spPr>
          <a:xfrm>
            <a:off x="6231636" y="3182112"/>
            <a:ext cx="5500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scope — 10 expected risks, 0 missing, 0 false positives, 0 field failures</a:t>
            </a:r>
            <a:endParaRPr lang="en-US" sz="1300" dirty="0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291CE95-6987-D2E9-EC0A-40CD93E5144F}"/>
              </a:ext>
            </a:extLst>
          </p:cNvPr>
          <p:cNvSpPr/>
          <p:nvPr/>
        </p:nvSpPr>
        <p:spPr>
          <a:xfrm>
            <a:off x="6460236" y="3456432"/>
            <a:ext cx="5042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set: 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manually identified expected risks — title, page, category, section, mitigation expected.</a:t>
            </a:r>
            <a:endParaRPr lang="en-US" sz="1300" dirty="0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2BB1EA40-4BED-888D-9436-A0CEE97AA918}"/>
              </a:ext>
            </a:extLst>
          </p:cNvPr>
          <p:cNvSpPr/>
          <p:nvPr/>
        </p:nvSpPr>
        <p:spPr>
          <a:xfrm>
            <a:off x="6460236" y="3931920"/>
            <a:ext cx="50429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NEGATIVE CONTROLS</a:t>
            </a:r>
            <a:endParaRPr lang="en-US" sz="1300" dirty="0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78FBB826-9BA8-DABA-0937-63D2119FDF8B}"/>
              </a:ext>
            </a:extLst>
          </p:cNvPr>
          <p:cNvSpPr/>
          <p:nvPr/>
        </p:nvSpPr>
        <p:spPr>
          <a:xfrm>
            <a:off x="6460236" y="4206240"/>
            <a:ext cx="1589532" cy="1179576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F3825654-EBD2-03DE-6C54-6D98768C1570}"/>
              </a:ext>
            </a:extLst>
          </p:cNvPr>
          <p:cNvSpPr/>
          <p:nvPr/>
        </p:nvSpPr>
        <p:spPr>
          <a:xfrm>
            <a:off x="6505956" y="4261104"/>
            <a:ext cx="14980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1300" dirty="0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66F1DD38-72BF-60CE-A4B1-0F72896A619D}"/>
              </a:ext>
            </a:extLst>
          </p:cNvPr>
          <p:cNvSpPr/>
          <p:nvPr/>
        </p:nvSpPr>
        <p:spPr>
          <a:xfrm>
            <a:off x="6533388" y="4832604"/>
            <a:ext cx="1443228" cy="54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Risks Matched</a:t>
            </a:r>
            <a:endParaRPr lang="en-US" sz="1300" dirty="0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D5A1B3AB-9F46-2E18-B98C-C8FB15D85291}"/>
              </a:ext>
            </a:extLst>
          </p:cNvPr>
          <p:cNvSpPr/>
          <p:nvPr/>
        </p:nvSpPr>
        <p:spPr>
          <a:xfrm>
            <a:off x="8186928" y="4206240"/>
            <a:ext cx="1589532" cy="1179576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57DC49D3-1024-A9FD-8B65-593204C45244}"/>
              </a:ext>
            </a:extLst>
          </p:cNvPr>
          <p:cNvSpPr/>
          <p:nvPr/>
        </p:nvSpPr>
        <p:spPr>
          <a:xfrm>
            <a:off x="8232648" y="4261104"/>
            <a:ext cx="14980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1600" dirty="0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88086C18-F1D8-3ECD-81A7-A87D12F8A717}"/>
              </a:ext>
            </a:extLst>
          </p:cNvPr>
          <p:cNvSpPr/>
          <p:nvPr/>
        </p:nvSpPr>
        <p:spPr>
          <a:xfrm>
            <a:off x="8260080" y="4832604"/>
            <a:ext cx="1443228" cy="54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Cases Rejected</a:t>
            </a:r>
            <a:endParaRPr lang="en-US" sz="1300" dirty="0"/>
          </a:p>
        </p:txBody>
      </p:sp>
      <p:sp>
        <p:nvSpPr>
          <p:cNvPr id="95" name="Shape 45">
            <a:extLst>
              <a:ext uri="{FF2B5EF4-FFF2-40B4-BE49-F238E27FC236}">
                <a16:creationId xmlns:a16="http://schemas.microsoft.com/office/drawing/2014/main" id="{B2FC9A4F-6B4B-EF25-68AE-23B899F705F9}"/>
              </a:ext>
            </a:extLst>
          </p:cNvPr>
          <p:cNvSpPr/>
          <p:nvPr/>
        </p:nvSpPr>
        <p:spPr>
          <a:xfrm>
            <a:off x="9913620" y="4206240"/>
            <a:ext cx="1589532" cy="1179576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8DE5887C-7A0F-CEC2-8873-831A504FF799}"/>
              </a:ext>
            </a:extLst>
          </p:cNvPr>
          <p:cNvSpPr/>
          <p:nvPr/>
        </p:nvSpPr>
        <p:spPr>
          <a:xfrm>
            <a:off x="9959340" y="4261104"/>
            <a:ext cx="1498092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1600" dirty="0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C015AB54-5159-545D-FC3F-469631D201C7}"/>
              </a:ext>
            </a:extLst>
          </p:cNvPr>
          <p:cNvSpPr/>
          <p:nvPr/>
        </p:nvSpPr>
        <p:spPr>
          <a:xfrm>
            <a:off x="9986772" y="4832604"/>
            <a:ext cx="1443228" cy="54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Tests Passed</a:t>
            </a:r>
            <a:endParaRPr lang="en-US" sz="1300" dirty="0"/>
          </a:p>
        </p:txBody>
      </p:sp>
      <p:sp>
        <p:nvSpPr>
          <p:cNvPr id="101" name="Shape 48">
            <a:extLst>
              <a:ext uri="{FF2B5EF4-FFF2-40B4-BE49-F238E27FC236}">
                <a16:creationId xmlns:a16="http://schemas.microsoft.com/office/drawing/2014/main" id="{EC36580A-7A02-E3D6-E891-60D95EBD3122}"/>
              </a:ext>
            </a:extLst>
          </p:cNvPr>
          <p:cNvSpPr/>
          <p:nvPr/>
        </p:nvSpPr>
        <p:spPr>
          <a:xfrm>
            <a:off x="0" y="5705856"/>
            <a:ext cx="12188952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3" name="Text 49">
            <a:extLst>
              <a:ext uri="{FF2B5EF4-FFF2-40B4-BE49-F238E27FC236}">
                <a16:creationId xmlns:a16="http://schemas.microsoft.com/office/drawing/2014/main" id="{A1FBAA98-F6EE-0029-A88E-3743CE40992A}"/>
              </a:ext>
            </a:extLst>
          </p:cNvPr>
          <p:cNvSpPr/>
          <p:nvPr/>
        </p:nvSpPr>
        <p:spPr>
          <a:xfrm>
            <a:off x="457200" y="5705856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 Ground Truth  →  Deterministic Evaluation  →  Transparent Failure Analysis</a:t>
            </a:r>
            <a:endParaRPr lang="en-US" sz="1500" dirty="0"/>
          </a:p>
        </p:txBody>
      </p:sp>
      <p:sp>
        <p:nvSpPr>
          <p:cNvPr id="105" name="Text 50">
            <a:extLst>
              <a:ext uri="{FF2B5EF4-FFF2-40B4-BE49-F238E27FC236}">
                <a16:creationId xmlns:a16="http://schemas.microsoft.com/office/drawing/2014/main" id="{5240CF07-0A79-D531-A644-CB2E2A284DBF}"/>
              </a:ext>
            </a:extLst>
          </p:cNvPr>
          <p:cNvSpPr/>
          <p:nvPr/>
        </p:nvSpPr>
        <p:spPr>
          <a:xfrm>
            <a:off x="457200" y="6163056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Evaluation Scope:  </a:t>
            </a: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validate correctness against a manually curated Vestas 2025 golden set. They demonstrate in-scope extraction quality and guard against obvious hardcoding, but do not yet establish cross-company or production-level generalization.</a:t>
            </a:r>
            <a:endParaRPr lang="en-US" sz="1500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66C4ED09-FB90-A74C-584F-E1820CAD5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627" y="-1062"/>
            <a:ext cx="2600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DB47502-633E-49DA-6EA2-7EA94E535EA1}"/>
              </a:ext>
            </a:extLst>
          </p:cNvPr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Prototype Demonstrates</a:t>
            </a:r>
            <a:endParaRPr lang="en-US" sz="2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413F6A-BC82-A825-2A84-A765AB594ABD}"/>
              </a:ext>
            </a:extLst>
          </p:cNvPr>
          <p:cNvSpPr/>
          <p:nvPr/>
        </p:nvSpPr>
        <p:spPr>
          <a:xfrm>
            <a:off x="457200" y="8046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proof that unstructured annual-report disclosures can be transformed into structured, traceable and measurable risk intelligence.</a:t>
            </a:r>
            <a:endParaRPr lang="en-US" sz="15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BBC2E73-E77E-15B8-6450-8EE5AB8BE863}"/>
              </a:ext>
            </a:extLst>
          </p:cNvPr>
          <p:cNvSpPr/>
          <p:nvPr/>
        </p:nvSpPr>
        <p:spPr>
          <a:xfrm>
            <a:off x="457200" y="1417320"/>
            <a:ext cx="2626614" cy="2641496"/>
          </a:xfrm>
          <a:prstGeom prst="roundRect">
            <a:avLst>
              <a:gd name="adj" fmla="val 367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70A473-1384-981C-E7BA-2E7377C1ECF5}"/>
              </a:ext>
            </a:extLst>
          </p:cNvPr>
          <p:cNvSpPr/>
          <p:nvPr/>
        </p:nvSpPr>
        <p:spPr>
          <a:xfrm>
            <a:off x="621792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254A77C-3AEF-7496-7B6E-E499F7234A76}"/>
              </a:ext>
            </a:extLst>
          </p:cNvPr>
          <p:cNvSpPr/>
          <p:nvPr/>
        </p:nvSpPr>
        <p:spPr>
          <a:xfrm>
            <a:off x="2462022" y="1545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0" descr="file-white.png">
            <a:extLst>
              <a:ext uri="{FF2B5EF4-FFF2-40B4-BE49-F238E27FC236}">
                <a16:creationId xmlns:a16="http://schemas.microsoft.com/office/drawing/2014/main" id="{992CB1E1-CBE1-7D98-4108-191C4D8D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62" y="1636776"/>
            <a:ext cx="274320" cy="274320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FB0545E9-F1E9-1B4B-E68F-75AEF8EF856F}"/>
              </a:ext>
            </a:extLst>
          </p:cNvPr>
          <p:cNvSpPr/>
          <p:nvPr/>
        </p:nvSpPr>
        <p:spPr>
          <a:xfrm>
            <a:off x="640080" y="2075688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3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59B9A3C-C6C8-1301-1CB3-A3781791ADC1}"/>
              </a:ext>
            </a:extLst>
          </p:cNvPr>
          <p:cNvSpPr/>
          <p:nvPr/>
        </p:nvSpPr>
        <p:spPr>
          <a:xfrm>
            <a:off x="640080" y="231343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Layout-aware annual-report parsing</a:t>
            </a:r>
            <a:endParaRPr lang="en-US" sz="13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DCA51E2E-B584-ECB1-F347-CC3A993B94BD}"/>
              </a:ext>
            </a:extLst>
          </p:cNvPr>
          <p:cNvSpPr/>
          <p:nvPr/>
        </p:nvSpPr>
        <p:spPr>
          <a:xfrm>
            <a:off x="640080" y="2734056"/>
            <a:ext cx="22608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content is converted into a canonical, page-aware representation while preserving source provenance.</a:t>
            </a:r>
            <a:endParaRPr lang="en-US" sz="13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CA50E8A2-4019-7775-FDEB-15BA1E56BD81}"/>
              </a:ext>
            </a:extLst>
          </p:cNvPr>
          <p:cNvSpPr/>
          <p:nvPr/>
        </p:nvSpPr>
        <p:spPr>
          <a:xfrm>
            <a:off x="3339846" y="1417320"/>
            <a:ext cx="2626614" cy="2641496"/>
          </a:xfrm>
          <a:prstGeom prst="roundRect">
            <a:avLst>
              <a:gd name="adj" fmla="val 367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17D9F64D-FC65-5490-141A-5321AF6CB682}"/>
              </a:ext>
            </a:extLst>
          </p:cNvPr>
          <p:cNvSpPr/>
          <p:nvPr/>
        </p:nvSpPr>
        <p:spPr>
          <a:xfrm>
            <a:off x="3504438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BED18DD2-D787-D82A-9B7D-8E57EE034F5D}"/>
              </a:ext>
            </a:extLst>
          </p:cNvPr>
          <p:cNvSpPr/>
          <p:nvPr/>
        </p:nvSpPr>
        <p:spPr>
          <a:xfrm>
            <a:off x="5344668" y="1545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1" descr="cpu-white.png">
            <a:extLst>
              <a:ext uri="{FF2B5EF4-FFF2-40B4-BE49-F238E27FC236}">
                <a16:creationId xmlns:a16="http://schemas.microsoft.com/office/drawing/2014/main" id="{8C8996C8-F49D-61DA-F2A4-E94DF91E0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8" y="1636776"/>
            <a:ext cx="274320" cy="274320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08333E71-F2B3-918B-3DCA-884F6BEA3E7E}"/>
              </a:ext>
            </a:extLst>
          </p:cNvPr>
          <p:cNvSpPr/>
          <p:nvPr/>
        </p:nvSpPr>
        <p:spPr>
          <a:xfrm>
            <a:off x="3522726" y="2075688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3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89E37143-7A4C-D88F-4AD8-DBA2FFFCCEED}"/>
              </a:ext>
            </a:extLst>
          </p:cNvPr>
          <p:cNvSpPr/>
          <p:nvPr/>
        </p:nvSpPr>
        <p:spPr>
          <a:xfrm>
            <a:off x="3522726" y="231343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extraction with structured output</a:t>
            </a:r>
            <a:endParaRPr lang="en-US" sz="13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9F1E3CB-776D-65E6-BD15-71829B1998F5}"/>
              </a:ext>
            </a:extLst>
          </p:cNvPr>
          <p:cNvSpPr/>
          <p:nvPr/>
        </p:nvSpPr>
        <p:spPr>
          <a:xfrm>
            <a:off x="3522726" y="2734056"/>
            <a:ext cx="22608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Risk-relevant evidence is transformed into schema-constrained risk records with source, category and mitigation information.</a:t>
            </a:r>
            <a:endParaRPr lang="en-US" sz="13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FD39C258-D6B1-C66C-C2D7-79BE9AB232AE}"/>
              </a:ext>
            </a:extLst>
          </p:cNvPr>
          <p:cNvSpPr/>
          <p:nvPr/>
        </p:nvSpPr>
        <p:spPr>
          <a:xfrm>
            <a:off x="6222492" y="1417320"/>
            <a:ext cx="2626614" cy="2641496"/>
          </a:xfrm>
          <a:prstGeom prst="roundRect">
            <a:avLst>
              <a:gd name="adj" fmla="val 367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DB3DDB01-604A-C96A-6B76-75B6C600B88E}"/>
              </a:ext>
            </a:extLst>
          </p:cNvPr>
          <p:cNvSpPr/>
          <p:nvPr/>
        </p:nvSpPr>
        <p:spPr>
          <a:xfrm>
            <a:off x="6387084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40B9C4D4-4B67-4606-3A74-1BA0EA0E39EB}"/>
              </a:ext>
            </a:extLst>
          </p:cNvPr>
          <p:cNvSpPr/>
          <p:nvPr/>
        </p:nvSpPr>
        <p:spPr>
          <a:xfrm>
            <a:off x="8227314" y="1545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1" name="Image 2" descr="check-white.png">
            <a:extLst>
              <a:ext uri="{FF2B5EF4-FFF2-40B4-BE49-F238E27FC236}">
                <a16:creationId xmlns:a16="http://schemas.microsoft.com/office/drawing/2014/main" id="{AF681430-8FA3-A194-BE3C-CE91CDA7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754" y="1636776"/>
            <a:ext cx="274320" cy="274320"/>
          </a:xfrm>
          <a:prstGeom prst="rect">
            <a:avLst/>
          </a:prstGeom>
        </p:spPr>
      </p:pic>
      <p:sp>
        <p:nvSpPr>
          <p:cNvPr id="43" name="Text 17">
            <a:extLst>
              <a:ext uri="{FF2B5EF4-FFF2-40B4-BE49-F238E27FC236}">
                <a16:creationId xmlns:a16="http://schemas.microsoft.com/office/drawing/2014/main" id="{E90F577A-3BB5-D9FB-A641-58EDF69C5DED}"/>
              </a:ext>
            </a:extLst>
          </p:cNvPr>
          <p:cNvSpPr/>
          <p:nvPr/>
        </p:nvSpPr>
        <p:spPr>
          <a:xfrm>
            <a:off x="6405372" y="2075688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BY DESIGN</a:t>
            </a:r>
            <a:endParaRPr lang="en-US" sz="13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1A8FF9B3-A29B-7A6B-8D62-354DAA75FBDD}"/>
              </a:ext>
            </a:extLst>
          </p:cNvPr>
          <p:cNvSpPr/>
          <p:nvPr/>
        </p:nvSpPr>
        <p:spPr>
          <a:xfrm>
            <a:off x="6405372" y="231343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and regression-testable</a:t>
            </a:r>
            <a:endParaRPr lang="en-US" sz="13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3C8F42B2-0125-530E-535E-A48D1FBAE813}"/>
              </a:ext>
            </a:extLst>
          </p:cNvPr>
          <p:cNvSpPr/>
          <p:nvPr/>
        </p:nvSpPr>
        <p:spPr>
          <a:xfrm>
            <a:off x="6405372" y="2734056"/>
            <a:ext cx="22608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 and evaluators measure both document extraction and risk-generation quality instead of relying on visual inspection.</a:t>
            </a:r>
            <a:endParaRPr lang="en-US" sz="1300" dirty="0"/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845C1DC8-6852-8A3C-DE76-9CBCEAC0542D}"/>
              </a:ext>
            </a:extLst>
          </p:cNvPr>
          <p:cNvSpPr/>
          <p:nvPr/>
        </p:nvSpPr>
        <p:spPr>
          <a:xfrm>
            <a:off x="9105138" y="1417320"/>
            <a:ext cx="2626614" cy="2641496"/>
          </a:xfrm>
          <a:prstGeom prst="roundRect">
            <a:avLst>
              <a:gd name="adj" fmla="val 3670"/>
            </a:avLst>
          </a:prstGeom>
          <a:solidFill>
            <a:srgbClr val="EAF1FD"/>
          </a:solidFill>
          <a:ln w="12700">
            <a:solidFill>
              <a:srgbClr val="B9CDEF"/>
            </a:solidFill>
            <a:prstDash val="solid"/>
          </a:ln>
        </p:spPr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5B4B1093-EBC7-7F16-A962-8AF38B5024E3}"/>
              </a:ext>
            </a:extLst>
          </p:cNvPr>
          <p:cNvSpPr/>
          <p:nvPr/>
        </p:nvSpPr>
        <p:spPr>
          <a:xfrm>
            <a:off x="9269730" y="1508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2EA7A3A3-F45B-90DE-8663-23C490D6DFDF}"/>
              </a:ext>
            </a:extLst>
          </p:cNvPr>
          <p:cNvSpPr/>
          <p:nvPr/>
        </p:nvSpPr>
        <p:spPr>
          <a:xfrm>
            <a:off x="11109960" y="154533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5" name="Image 3" descr="layers-white.png">
            <a:extLst>
              <a:ext uri="{FF2B5EF4-FFF2-40B4-BE49-F238E27FC236}">
                <a16:creationId xmlns:a16="http://schemas.microsoft.com/office/drawing/2014/main" id="{797CB835-FF60-6D51-132E-2ABC1EF3F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1636776"/>
            <a:ext cx="274320" cy="274320"/>
          </a:xfrm>
          <a:prstGeom prst="rect">
            <a:avLst/>
          </a:prstGeom>
        </p:spPr>
      </p:pic>
      <p:sp>
        <p:nvSpPr>
          <p:cNvPr id="57" name="Text 23">
            <a:extLst>
              <a:ext uri="{FF2B5EF4-FFF2-40B4-BE49-F238E27FC236}">
                <a16:creationId xmlns:a16="http://schemas.microsoft.com/office/drawing/2014/main" id="{5568C7BA-312F-9D53-CD76-16652CDB3083}"/>
              </a:ext>
            </a:extLst>
          </p:cNvPr>
          <p:cNvSpPr/>
          <p:nvPr/>
        </p:nvSpPr>
        <p:spPr>
          <a:xfrm>
            <a:off x="9288018" y="2075688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FOUNDATION</a:t>
            </a:r>
            <a:endParaRPr lang="en-US" sz="1300" dirty="0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D6013AC4-6B74-9ABA-4877-497B70DD9B24}"/>
              </a:ext>
            </a:extLst>
          </p:cNvPr>
          <p:cNvSpPr/>
          <p:nvPr/>
        </p:nvSpPr>
        <p:spPr>
          <a:xfrm>
            <a:off x="9288018" y="231343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creates downstream leverage</a:t>
            </a:r>
            <a:endParaRPr lang="en-US" sz="130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0FB8BE0C-3A79-156F-CD33-4DE6B3EF869D}"/>
              </a:ext>
            </a:extLst>
          </p:cNvPr>
          <p:cNvSpPr/>
          <p:nvPr/>
        </p:nvSpPr>
        <p:spPr>
          <a:xfrm>
            <a:off x="9288018" y="2734056"/>
            <a:ext cx="22608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becomes suitable for search, comparison, monitoring and eventually portfolio-level analysis.</a:t>
            </a:r>
            <a:endParaRPr lang="en-US" sz="13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4761FD84-9A7A-9782-8ADD-9D98E6F7D4AE}"/>
              </a:ext>
            </a:extLst>
          </p:cNvPr>
          <p:cNvSpPr/>
          <p:nvPr/>
        </p:nvSpPr>
        <p:spPr>
          <a:xfrm>
            <a:off x="457200" y="425457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EVIDENCE</a:t>
            </a:r>
            <a:endParaRPr lang="en-US" sz="1300" dirty="0"/>
          </a:p>
        </p:txBody>
      </p:sp>
      <p:sp>
        <p:nvSpPr>
          <p:cNvPr id="65" name="Shape 27">
            <a:extLst>
              <a:ext uri="{FF2B5EF4-FFF2-40B4-BE49-F238E27FC236}">
                <a16:creationId xmlns:a16="http://schemas.microsoft.com/office/drawing/2014/main" id="{3ED0F503-3404-BE9B-1A9B-1C0D2DF5A5CB}"/>
              </a:ext>
            </a:extLst>
          </p:cNvPr>
          <p:cNvSpPr/>
          <p:nvPr/>
        </p:nvSpPr>
        <p:spPr>
          <a:xfrm>
            <a:off x="457200" y="4565474"/>
            <a:ext cx="2072030" cy="868680"/>
          </a:xfrm>
          <a:prstGeom prst="roundRect">
            <a:avLst>
              <a:gd name="adj" fmla="val 631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93D8F2E-BE86-174C-F0E5-D99524A8CBE8}"/>
              </a:ext>
            </a:extLst>
          </p:cNvPr>
          <p:cNvSpPr/>
          <p:nvPr/>
        </p:nvSpPr>
        <p:spPr>
          <a:xfrm>
            <a:off x="457200" y="4675202"/>
            <a:ext cx="2072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97.16%</a:t>
            </a:r>
            <a:endParaRPr lang="en-US" sz="200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5BB0DDF2-DCA3-CB2A-175A-D1E35642E939}"/>
              </a:ext>
            </a:extLst>
          </p:cNvPr>
          <p:cNvSpPr/>
          <p:nvPr/>
        </p:nvSpPr>
        <p:spPr>
          <a:xfrm>
            <a:off x="530352" y="508668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</a:t>
            </a:r>
            <a:endParaRPr lang="en-US" sz="1300" dirty="0"/>
          </a:p>
        </p:txBody>
      </p:sp>
      <p:sp>
        <p:nvSpPr>
          <p:cNvPr id="71" name="Shape 30">
            <a:extLst>
              <a:ext uri="{FF2B5EF4-FFF2-40B4-BE49-F238E27FC236}">
                <a16:creationId xmlns:a16="http://schemas.microsoft.com/office/drawing/2014/main" id="{B785A6D8-2A18-642C-8A94-32F4E3A40CC3}"/>
              </a:ext>
            </a:extLst>
          </p:cNvPr>
          <p:cNvSpPr/>
          <p:nvPr/>
        </p:nvSpPr>
        <p:spPr>
          <a:xfrm>
            <a:off x="2757830" y="4565474"/>
            <a:ext cx="2072030" cy="868680"/>
          </a:xfrm>
          <a:prstGeom prst="roundRect">
            <a:avLst>
              <a:gd name="adj" fmla="val 631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DA48743E-7E01-5DB5-3DF7-9E8C0C1E27BE}"/>
              </a:ext>
            </a:extLst>
          </p:cNvPr>
          <p:cNvSpPr/>
          <p:nvPr/>
        </p:nvSpPr>
        <p:spPr>
          <a:xfrm>
            <a:off x="2757830" y="4675202"/>
            <a:ext cx="2072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00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5366A2AE-F248-0576-2AEC-7856143CC718}"/>
              </a:ext>
            </a:extLst>
          </p:cNvPr>
          <p:cNvSpPr/>
          <p:nvPr/>
        </p:nvSpPr>
        <p:spPr>
          <a:xfrm>
            <a:off x="2830982" y="508668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risks identified</a:t>
            </a:r>
            <a:endParaRPr lang="en-US" sz="130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40FAA4F9-978C-6AFE-9F9F-B5035AC983C4}"/>
              </a:ext>
            </a:extLst>
          </p:cNvPr>
          <p:cNvSpPr/>
          <p:nvPr/>
        </p:nvSpPr>
        <p:spPr>
          <a:xfrm>
            <a:off x="5058461" y="4565474"/>
            <a:ext cx="2072030" cy="868680"/>
          </a:xfrm>
          <a:prstGeom prst="roundRect">
            <a:avLst>
              <a:gd name="adj" fmla="val 631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9" name="Text 34">
            <a:extLst>
              <a:ext uri="{FF2B5EF4-FFF2-40B4-BE49-F238E27FC236}">
                <a16:creationId xmlns:a16="http://schemas.microsoft.com/office/drawing/2014/main" id="{D157E664-40AB-B7BE-E103-8A8440F7C097}"/>
              </a:ext>
            </a:extLst>
          </p:cNvPr>
          <p:cNvSpPr/>
          <p:nvPr/>
        </p:nvSpPr>
        <p:spPr>
          <a:xfrm>
            <a:off x="5058461" y="4675202"/>
            <a:ext cx="2072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000" dirty="0"/>
          </a:p>
        </p:txBody>
      </p:sp>
      <p:sp>
        <p:nvSpPr>
          <p:cNvPr id="81" name="Text 35">
            <a:extLst>
              <a:ext uri="{FF2B5EF4-FFF2-40B4-BE49-F238E27FC236}">
                <a16:creationId xmlns:a16="http://schemas.microsoft.com/office/drawing/2014/main" id="{C9BF698F-965E-0D65-3143-207046D51DFA}"/>
              </a:ext>
            </a:extLst>
          </p:cNvPr>
          <p:cNvSpPr/>
          <p:nvPr/>
        </p:nvSpPr>
        <p:spPr>
          <a:xfrm>
            <a:off x="5131613" y="508668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Precision / Recall / F1</a:t>
            </a:r>
            <a:endParaRPr lang="en-US" sz="1300" dirty="0"/>
          </a:p>
        </p:txBody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991A9D86-2616-645C-FF29-712D46E78891}"/>
              </a:ext>
            </a:extLst>
          </p:cNvPr>
          <p:cNvSpPr/>
          <p:nvPr/>
        </p:nvSpPr>
        <p:spPr>
          <a:xfrm>
            <a:off x="7359091" y="4565474"/>
            <a:ext cx="2072030" cy="868680"/>
          </a:xfrm>
          <a:prstGeom prst="roundRect">
            <a:avLst>
              <a:gd name="adj" fmla="val 631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FE7673AD-B9B6-5F92-DCB2-C34E6E9B0F6E}"/>
              </a:ext>
            </a:extLst>
          </p:cNvPr>
          <p:cNvSpPr/>
          <p:nvPr/>
        </p:nvSpPr>
        <p:spPr>
          <a:xfrm>
            <a:off x="7359091" y="4675202"/>
            <a:ext cx="2072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2000" dirty="0"/>
          </a:p>
        </p:txBody>
      </p:sp>
      <p:sp>
        <p:nvSpPr>
          <p:cNvPr id="87" name="Text 38">
            <a:extLst>
              <a:ext uri="{FF2B5EF4-FFF2-40B4-BE49-F238E27FC236}">
                <a16:creationId xmlns:a16="http://schemas.microsoft.com/office/drawing/2014/main" id="{EFC86526-4969-8A05-7E57-66545BEEEB62}"/>
              </a:ext>
            </a:extLst>
          </p:cNvPr>
          <p:cNvSpPr/>
          <p:nvPr/>
        </p:nvSpPr>
        <p:spPr>
          <a:xfrm>
            <a:off x="7432243" y="508668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controls rejected</a:t>
            </a:r>
            <a:endParaRPr lang="en-US" sz="1300" dirty="0"/>
          </a:p>
        </p:txBody>
      </p:sp>
      <p:sp>
        <p:nvSpPr>
          <p:cNvPr id="89" name="Shape 39">
            <a:extLst>
              <a:ext uri="{FF2B5EF4-FFF2-40B4-BE49-F238E27FC236}">
                <a16:creationId xmlns:a16="http://schemas.microsoft.com/office/drawing/2014/main" id="{5403B146-D32C-975A-FBB9-0DC031AB9567}"/>
              </a:ext>
            </a:extLst>
          </p:cNvPr>
          <p:cNvSpPr/>
          <p:nvPr/>
        </p:nvSpPr>
        <p:spPr>
          <a:xfrm>
            <a:off x="9659722" y="4565474"/>
            <a:ext cx="2072030" cy="868680"/>
          </a:xfrm>
          <a:prstGeom prst="roundRect">
            <a:avLst>
              <a:gd name="adj" fmla="val 6316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1" name="Text 40">
            <a:extLst>
              <a:ext uri="{FF2B5EF4-FFF2-40B4-BE49-F238E27FC236}">
                <a16:creationId xmlns:a16="http://schemas.microsoft.com/office/drawing/2014/main" id="{53257CF9-652E-1D37-6960-47E05FFB2849}"/>
              </a:ext>
            </a:extLst>
          </p:cNvPr>
          <p:cNvSpPr/>
          <p:nvPr/>
        </p:nvSpPr>
        <p:spPr>
          <a:xfrm>
            <a:off x="9659722" y="4675202"/>
            <a:ext cx="20720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000" dirty="0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E52DBFFE-0543-8169-D668-9F5DA1D8E847}"/>
              </a:ext>
            </a:extLst>
          </p:cNvPr>
          <p:cNvSpPr/>
          <p:nvPr/>
        </p:nvSpPr>
        <p:spPr>
          <a:xfrm>
            <a:off x="9732874" y="5086682"/>
            <a:ext cx="19257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tests passed</a:t>
            </a:r>
            <a:endParaRPr lang="en-US" sz="1300" dirty="0"/>
          </a:p>
        </p:txBody>
      </p:sp>
      <p:sp>
        <p:nvSpPr>
          <p:cNvPr id="95" name="Shape 42">
            <a:extLst>
              <a:ext uri="{FF2B5EF4-FFF2-40B4-BE49-F238E27FC236}">
                <a16:creationId xmlns:a16="http://schemas.microsoft.com/office/drawing/2014/main" id="{6E9629DA-302F-89B3-64FB-405DA59B5F53}"/>
              </a:ext>
            </a:extLst>
          </p:cNvPr>
          <p:cNvSpPr/>
          <p:nvPr/>
        </p:nvSpPr>
        <p:spPr>
          <a:xfrm>
            <a:off x="0" y="5708474"/>
            <a:ext cx="12188952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7" name="Text 43">
            <a:extLst>
              <a:ext uri="{FF2B5EF4-FFF2-40B4-BE49-F238E27FC236}">
                <a16:creationId xmlns:a16="http://schemas.microsoft.com/office/drawing/2014/main" id="{6D20E7E6-0FDA-6D4C-98B7-D026D0BF3314}"/>
              </a:ext>
            </a:extLst>
          </p:cNvPr>
          <p:cNvSpPr/>
          <p:nvPr/>
        </p:nvSpPr>
        <p:spPr>
          <a:xfrm>
            <a:off x="822960" y="5708474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annual report to structured risk intelligence — with evidence of where the information came from, and evidence that the pipeline works.</a:t>
            </a:r>
            <a:endParaRPr lang="en-US" sz="155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E3966B1B-CCC1-F21D-F995-D5E7D2AE5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8627" y="-1062"/>
            <a:ext cx="26003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1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6C878-009C-15C0-7639-0DC69539D63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2C6EC0D-E25D-A64F-560A-DFDF58F752B2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BB33B12-3A37-198C-2F60-F7A5F1D72AE3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4EDA942-8DEF-F3B2-B627-E20D1C572620}"/>
              </a:ext>
            </a:extLst>
          </p:cNvPr>
          <p:cNvSpPr/>
          <p:nvPr/>
        </p:nvSpPr>
        <p:spPr>
          <a:xfrm>
            <a:off x="5632704" y="2163767"/>
            <a:ext cx="914400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3EEECF2-1BC4-A7FD-C90D-F6F80A25C59E}"/>
              </a:ext>
            </a:extLst>
          </p:cNvPr>
          <p:cNvSpPr/>
          <p:nvPr/>
        </p:nvSpPr>
        <p:spPr>
          <a:xfrm>
            <a:off x="0" y="2346647"/>
            <a:ext cx="1218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2A28B1A-4CB1-AC0B-54CF-90DD8AA12CBA}"/>
              </a:ext>
            </a:extLst>
          </p:cNvPr>
          <p:cNvSpPr/>
          <p:nvPr/>
        </p:nvSpPr>
        <p:spPr>
          <a:xfrm>
            <a:off x="0" y="3288479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7DBDA10-AD28-59EE-21AA-CE737078C0C7}"/>
              </a:ext>
            </a:extLst>
          </p:cNvPr>
          <p:cNvSpPr/>
          <p:nvPr/>
        </p:nvSpPr>
        <p:spPr>
          <a:xfrm>
            <a:off x="1371600" y="39776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go deeper into the product decisions, architecture, evaluation, or implementation.</a:t>
            </a:r>
            <a:endParaRPr lang="en-US" sz="28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77FEB79-A460-43D3-6107-451D54138388}"/>
              </a:ext>
            </a:extLst>
          </p:cNvPr>
          <p:cNvSpPr/>
          <p:nvPr/>
        </p:nvSpPr>
        <p:spPr>
          <a:xfrm>
            <a:off x="0" y="5886681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</a:t>
            </a:r>
            <a:endParaRPr lang="en-US" sz="3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1D29CDC-C697-9D93-EC57-F757BD6C84DA}"/>
              </a:ext>
            </a:extLst>
          </p:cNvPr>
          <p:cNvSpPr/>
          <p:nvPr/>
        </p:nvSpPr>
        <p:spPr>
          <a:xfrm>
            <a:off x="0" y="6272784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 System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445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1523</Words>
  <Application>Microsoft Office PowerPoint</Application>
  <PresentationFormat>Widescreen</PresentationFormat>
  <Paragraphs>244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</vt:lpstr>
      <vt:lpstr>Inter</vt:lpstr>
      <vt:lpstr>Inter Medium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Kumar</cp:lastModifiedBy>
  <cp:revision>58</cp:revision>
  <dcterms:created xsi:type="dcterms:W3CDTF">2026-08-17T12:07:07Z</dcterms:created>
  <dcterms:modified xsi:type="dcterms:W3CDTF">2026-08-17T17:19:00Z</dcterms:modified>
</cp:coreProperties>
</file>